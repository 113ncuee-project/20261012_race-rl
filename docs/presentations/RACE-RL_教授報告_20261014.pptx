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250bc65b12456b" /><Relationship Type="http://schemas.openxmlformats.org/officeDocument/2006/relationships/extended-properties" Target="/docProps/app.xml" Id="Reaa451b4779d4121" /><Relationship Type="http://schemas.openxmlformats.org/officeDocument/2006/relationships/officeDocument" Target="/ppt/presentation.xml" Id="R238ee5ba0a6f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0d3542c0c14f86"/>
  </p:sldMasterIdLst>
  <p:notesMasterIdLst>
    <p:notesMasterId xmlns:r="http://schemas.openxmlformats.org/officeDocument/2006/relationships" r:id="Rc005cee4ee0e451e"/>
  </p:notesMasterIdLst>
  <p:sldIdLst>
    <p:sldId xmlns:r="http://schemas.openxmlformats.org/officeDocument/2006/relationships" id="256" r:id="R0aeee6e817e9448b"/>
    <p:sldId xmlns:r="http://schemas.openxmlformats.org/officeDocument/2006/relationships" id="257" r:id="Rf3c8e91193714a83"/>
    <p:sldId xmlns:r="http://schemas.openxmlformats.org/officeDocument/2006/relationships" id="258" r:id="Rd64792cd7c234ff2"/>
    <p:sldId xmlns:r="http://schemas.openxmlformats.org/officeDocument/2006/relationships" id="259" r:id="Rd7bbbda6b8be42b8"/>
    <p:sldId xmlns:r="http://schemas.openxmlformats.org/officeDocument/2006/relationships" id="260" r:id="R82a321fc217f463d"/>
    <p:sldId xmlns:r="http://schemas.openxmlformats.org/officeDocument/2006/relationships" id="261" r:id="R6b6343e72bc4423a"/>
    <p:sldId xmlns:r="http://schemas.openxmlformats.org/officeDocument/2006/relationships" id="262" r:id="R87848c0809a84104"/>
    <p:sldId xmlns:r="http://schemas.openxmlformats.org/officeDocument/2006/relationships" id="263" r:id="R31ee1ad9941e42f8"/>
    <p:sldId xmlns:r="http://schemas.openxmlformats.org/officeDocument/2006/relationships" id="264" r:id="R8f66946a679c4e5a"/>
    <p:sldId xmlns:r="http://schemas.openxmlformats.org/officeDocument/2006/relationships" id="265" r:id="Raa386566f5d8455f"/>
    <p:sldId xmlns:r="http://schemas.openxmlformats.org/officeDocument/2006/relationships" id="266" r:id="Rec6a9ff883b5469d"/>
    <p:sldId xmlns:r="http://schemas.openxmlformats.org/officeDocument/2006/relationships" id="267" r:id="Rec5e8d70d76f4a09"/>
    <p:sldId xmlns:r="http://schemas.openxmlformats.org/officeDocument/2006/relationships" id="268" r:id="Re8d6ce556d5045c6"/>
    <p:sldId xmlns:r="http://schemas.openxmlformats.org/officeDocument/2006/relationships" id="269" r:id="Re20df58edcfc42e6"/>
    <p:sldId xmlns:r="http://schemas.openxmlformats.org/officeDocument/2006/relationships" id="270" r:id="R93e5d38e96c54dcd"/>
    <p:sldId xmlns:r="http://schemas.openxmlformats.org/officeDocument/2006/relationships" id="271" r:id="R954d088ee19b4b82"/>
    <p:sldId xmlns:r="http://schemas.openxmlformats.org/officeDocument/2006/relationships" id="272" r:id="R0098ebda4c664ef1"/>
    <p:sldId xmlns:r="http://schemas.openxmlformats.org/officeDocument/2006/relationships" id="273" r:id="R15c995950aa44c80"/>
    <p:sldId xmlns:r="http://schemas.openxmlformats.org/officeDocument/2006/relationships" id="274" r:id="R027e173f0ddd40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92cebad004d15" /><Relationship Type="http://schemas.openxmlformats.org/officeDocument/2006/relationships/slideMaster" Target="/ppt/slideMasters/slideMaster1.xml" Id="R340d3542c0c14f86" /><Relationship Type="http://schemas.openxmlformats.org/officeDocument/2006/relationships/notesMaster" Target="/ppt/notesMasters/notesMaster1.xml" Id="Rc005cee4ee0e451e" /><Relationship Type="http://schemas.openxmlformats.org/officeDocument/2006/relationships/presProps" Target="/ppt/presProps.xml" Id="Rf4954671c1c74f0e" /><Relationship Type="http://schemas.openxmlformats.org/officeDocument/2006/relationships/tableStyles" Target="/ppt/tableStyles.xml" Id="Ra197809dd2fb490b" /><Relationship Type="http://schemas.openxmlformats.org/officeDocument/2006/relationships/slide" Target="/ppt/slides/slide1.xml" Id="R0aeee6e817e9448b" /><Relationship Type="http://schemas.openxmlformats.org/officeDocument/2006/relationships/slide" Target="/ppt/slides/slide2.xml" Id="Rf3c8e91193714a83" /><Relationship Type="http://schemas.openxmlformats.org/officeDocument/2006/relationships/slide" Target="/ppt/slides/slide3.xml" Id="Rd64792cd7c234ff2" /><Relationship Type="http://schemas.openxmlformats.org/officeDocument/2006/relationships/slide" Target="/ppt/slides/slide4.xml" Id="Rd7bbbda6b8be42b8" /><Relationship Type="http://schemas.openxmlformats.org/officeDocument/2006/relationships/slide" Target="/ppt/slides/slide5.xml" Id="R82a321fc217f463d" /><Relationship Type="http://schemas.openxmlformats.org/officeDocument/2006/relationships/slide" Target="/ppt/slides/slide6.xml" Id="R6b6343e72bc4423a" /><Relationship Type="http://schemas.openxmlformats.org/officeDocument/2006/relationships/slide" Target="/ppt/slides/slide7.xml" Id="R87848c0809a84104" /><Relationship Type="http://schemas.openxmlformats.org/officeDocument/2006/relationships/slide" Target="/ppt/slides/slide8.xml" Id="R31ee1ad9941e42f8" /><Relationship Type="http://schemas.openxmlformats.org/officeDocument/2006/relationships/slide" Target="/ppt/slides/slide9.xml" Id="R8f66946a679c4e5a" /><Relationship Type="http://schemas.openxmlformats.org/officeDocument/2006/relationships/slide" Target="/ppt/slides/slide10.xml" Id="Raa386566f5d8455f" /><Relationship Type="http://schemas.openxmlformats.org/officeDocument/2006/relationships/slide" Target="/ppt/slides/slide11.xml" Id="Rec6a9ff883b5469d" /><Relationship Type="http://schemas.openxmlformats.org/officeDocument/2006/relationships/slide" Target="/ppt/slides/slide12.xml" Id="Rec5e8d70d76f4a09" /><Relationship Type="http://schemas.openxmlformats.org/officeDocument/2006/relationships/slide" Target="/ppt/slides/slide13.xml" Id="Re8d6ce556d5045c6" /><Relationship Type="http://schemas.openxmlformats.org/officeDocument/2006/relationships/slide" Target="/ppt/slides/slide14.xml" Id="Re20df58edcfc42e6" /><Relationship Type="http://schemas.openxmlformats.org/officeDocument/2006/relationships/slide" Target="/ppt/slides/slide15.xml" Id="R93e5d38e96c54dcd" /><Relationship Type="http://schemas.openxmlformats.org/officeDocument/2006/relationships/slide" Target="/ppt/slides/slide16.xml" Id="R954d088ee19b4b82" /><Relationship Type="http://schemas.openxmlformats.org/officeDocument/2006/relationships/slide" Target="/ppt/slides/slide17.xml" Id="R0098ebda4c664ef1" /><Relationship Type="http://schemas.openxmlformats.org/officeDocument/2006/relationships/slide" Target="/ppt/slides/slide18.xml" Id="R15c995950aa44c80" /><Relationship Type="http://schemas.openxmlformats.org/officeDocument/2006/relationships/slide" Target="/ppt/slides/slide19.xml" Id="R027e173f0ddd40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659e5d195f49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97bfb8318485a" /><Relationship Type="http://schemas.openxmlformats.org/officeDocument/2006/relationships/notesMaster" Target="/ppt/notesMasters/notesMaster1.xml" Id="Rae326874231b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e273827c64773" /><Relationship Type="http://schemas.openxmlformats.org/officeDocument/2006/relationships/notesMaster" Target="/ppt/notesMasters/notesMaster1.xml" Id="Rb7a644af472e44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534b2a94c84395" /><Relationship Type="http://schemas.openxmlformats.org/officeDocument/2006/relationships/notesMaster" Target="/ppt/notesMasters/notesMaster1.xml" Id="R4f775f731396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2982ba8b34e4e" /><Relationship Type="http://schemas.openxmlformats.org/officeDocument/2006/relationships/notesMaster" Target="/ppt/notesMasters/notesMaster1.xml" Id="R07c726cdfc7a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7f841b92fc40c5" /><Relationship Type="http://schemas.openxmlformats.org/officeDocument/2006/relationships/notesMaster" Target="/ppt/notesMasters/notesMaster1.xml" Id="Rec72228a232f40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f49327a17347d0" /><Relationship Type="http://schemas.openxmlformats.org/officeDocument/2006/relationships/notesMaster" Target="/ppt/notesMasters/notesMaster1.xml" Id="R0912282efd5848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97b8f2a3e4003" /><Relationship Type="http://schemas.openxmlformats.org/officeDocument/2006/relationships/notesMaster" Target="/ppt/notesMasters/notesMaster1.xml" Id="R979e3437e17041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b41b761123429c" /><Relationship Type="http://schemas.openxmlformats.org/officeDocument/2006/relationships/notesMaster" Target="/ppt/notesMasters/notesMaster1.xml" Id="Rc1193232231c4a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6bfa22f3cc41eb" /><Relationship Type="http://schemas.openxmlformats.org/officeDocument/2006/relationships/notesMaster" Target="/ppt/notesMasters/notesMaster1.xml" Id="R0a9015f9cfb546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73f6c633dd488c" /><Relationship Type="http://schemas.openxmlformats.org/officeDocument/2006/relationships/notesMaster" Target="/ppt/notesMasters/notesMaster1.xml" Id="R0880c39e034c4e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17c98daed54c1d" /><Relationship Type="http://schemas.openxmlformats.org/officeDocument/2006/relationships/notesMaster" Target="/ppt/notesMasters/notesMaster1.xml" Id="Rbd4491e73c5341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9929a86d834e22" /><Relationship Type="http://schemas.openxmlformats.org/officeDocument/2006/relationships/notesMaster" Target="/ppt/notesMasters/notesMaster1.xml" Id="R80ef0cff333d46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fb46288b424abd" /><Relationship Type="http://schemas.openxmlformats.org/officeDocument/2006/relationships/notesMaster" Target="/ppt/notesMasters/notesMaster1.xml" Id="Rfe2603b1201f49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79cb778e8445d8" /><Relationship Type="http://schemas.openxmlformats.org/officeDocument/2006/relationships/notesMaster" Target="/ppt/notesMasters/notesMaster1.xml" Id="Rfde218e07a644a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8e45d1eb58448d" /><Relationship Type="http://schemas.openxmlformats.org/officeDocument/2006/relationships/notesMaster" Target="/ppt/notesMasters/notesMaster1.xml" Id="Rb13b903b2bb24b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8a95b6f6cf4bc7" /><Relationship Type="http://schemas.openxmlformats.org/officeDocument/2006/relationships/notesMaster" Target="/ppt/notesMasters/notesMaster1.xml" Id="R4c3338b0819e40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21d673a6984c01" /><Relationship Type="http://schemas.openxmlformats.org/officeDocument/2006/relationships/notesMaster" Target="/ppt/notesMasters/notesMaster1.xml" Id="R5b430daecca846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b4ed9e38e24daa" /><Relationship Type="http://schemas.openxmlformats.org/officeDocument/2006/relationships/notesMaster" Target="/ppt/notesMasters/notesMaster1.xml" Id="Rf10f033e75624c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85e2111a724f63" /><Relationship Type="http://schemas.openxmlformats.org/officeDocument/2006/relationships/notesMaster" Target="/ppt/notesMasters/notesMaster1.xml" Id="Rebf417363fde47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本報告介紹 RACE-RL 的研究目標與目前實作，並以已完成的七模型診斷實驗檢討方法限制。新版正在執行，狀態採 2026-10-14 12:49 台北時間截點。研究仍使用未校準的分析式 PPA，未建立真實晶片效能、收斂或算法優勢的證據。</a:t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/Users/hsuyuchia/Documents/RACE-RL/README.md</a:t>
            </a:r>
          </a:p>
          <a:p xmlns:a="http://schemas.openxmlformats.org/drawingml/2006/main">
            <a:r>
              <a:t>/Users/hsuyuchia/Documents/RACE-RL/docs/research/model_suite_20261014.md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廠商先提供平均功耗、單次推論延遲、運算晶粒面積上限與偏好權重。本專案希望同一個 RL policy 共同處理架構顆數、算子切分和工作／資料配置。一次不佳的 mapping 不應導致整個顆數永久被排除。研究關心有限評估預算下的搜尋效率，尚未完成完整多維 DSE。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/Users/hsuyuchia/Documents/RACE-RL/README.md</a:t>
            </a:r>
          </a:p>
          <a:p xmlns:a="http://schemas.openxmlformats.org/drawingml/2006/main">
            <a:r>
              <a:t>/Users/hsuyuchia/Documents/RACE-RL/src/race_rl/architecture.py</a:t>
            </a:r>
          </a:p>
          <a:p xmlns:a="http://schemas.openxmlformats.org/drawingml/2006/main">
            <a:r>
              <a:t>/Users/hsuyuchia/Documents/RACE-RL/docs/research/vendor_requirements.md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H1 原始假說是關聯式狀態在等評估預算下能提高搜尋成效。H2 是相依聯合修改能更有效處理有限預算下的組合障礙，而非聲稱獨立修改永遠不可達。H3 是已驗證最佳值與排程 potential shaping 能改善歸因。這些仍是待驗證假說。目前 Toy pilot 沒有形成支持證據，不能把流程可執行當作假說成立。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/Users/hsuyuchia/Documents/RACE-RL/docs/research/hypothesis_results.md</a:t>
            </a:r>
          </a:p>
          <a:p xmlns:a="http://schemas.openxmlformats.org/drawingml/2006/main">
            <a:r>
              <a:t>/Users/hsuyuchia/Documents/RACE-RL/docs/research/rl_architecture.md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正式模型只有共享圖 Encoder、條件式 Actor 與 REINFORCE optimizer。Encoder 編碼当前壓縮 observation，Actor 選一種 action 類別並產生完整參數。環境一次 step 回傳一次實際回報和新 observation。reset 與 Actor 都不先評估候選 PPA，回合結束才更新一次策略。圖中的神經網路只為示意，不表示精確層數。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/Users/hsuyuchia/Documents/RACE-RL/docs/research/rl_architecture.md</a:t>
            </a:r>
          </a:p>
          <a:p xmlns:a="http://schemas.openxmlformats.org/drawingml/2006/main">
            <a:r>
              <a:t>/Users/hsuyuchia/Documents/RACE-RL/src/race_rl/policy.py</a:t>
            </a:r>
          </a:p>
          <a:p xmlns:a="http://schemas.openxmlformats.org/drawingml/2006/main">
            <a:r>
              <a:t>/Users/hsuyuchia/Documents/RACE-RL/src/race_rl/training.py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所有顆數 1–16 仍可嘗試，顆數不按 PPA 先被排除。四維 NCHW retile 目前僅 H，二維輸出切 feature。一次 action 可以選 resize、整層 retile 或聯合配置類別；不是每一步都重新決定所有變數。memory_affinity 同時選 compute 位置與外部服務，coupled scope 正式最多 2 個相依 Tile。目標微架構、外部頻寬和重用模型固定。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/Users/hsuyuchia/Documents/RACE-RL/src/race_rl/architecture.py</a:t>
            </a:r>
          </a:p>
          <a:p xmlns:a="http://schemas.openxmlformats.org/drawingml/2006/main">
            <a:r>
              <a:t>/Users/hsuyuchia/Documents/RACE-RL/src/race_rl/actions.py</a:t>
            </a:r>
          </a:p>
          <a:p xmlns:a="http://schemas.openxmlformats.org/drawingml/2006/main">
            <a:r>
              <a:t>/Users/hsuyuchia/Documents/RACE-RL/docs/research/hardware_model.md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Mesh 每顆 1 G modeled op/s，MAC 計作 1 operation。本地 32 MiB、1 GB/s，1 mm²，1 mW static。兩個外部服務各 1 GiB、1 GB/s、1 mW，接在 c0 和 cN-1，不是物理記憶 chiplet。每 Tile 讀 activation／常數，再 compute，再 spill-write output。搬移期間競爭 memory、DMA、local memory 和有向 link。平均功耗由總能量除 makespan。資料為 float64 每元素 8 bytes，這不代表已決定實際硬體使用 float64。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/Users/hsuyuchia/Documents/RACE-RL/docs/research/hardware_model.md</a:t>
            </a:r>
          </a:p>
          <a:p xmlns:a="http://schemas.openxmlformats.org/drawingml/2006/main">
            <a:r>
              <a:t>/Users/hsuyuchia/Documents/RACE-RL/src/race_rl/mesh.py</a:t>
            </a:r>
          </a:p>
          <a:p xmlns:a="http://schemas.openxmlformats.org/drawingml/2006/main">
            <a:r>
              <a:t>/Users/hsuyuchia/Documents/RACE-RL/src/race_rl/oracle.py</a:t>
            </a:r>
          </a:p>
          <a:p xmlns:a="http://schemas.openxmlformats.org/drawingml/2006/main">
            <a:r>
              <a:t>https://github.com/spcl/rapidchiplet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 是平均功耗，第二個 P 用單次推論延遲表示，A 是 compute die 面積。三項全部達標才進入可行排名，之後以需求固定尺度的加權成本比較。未達標以 violation excess 和 merit 排序，仍允許走過較差 current。Dense reward 只在刷新 episode best J 時为正。64 指一回合最多 64 次完整 step，不是 action 內部挑選 64 候選。REINFORCE reward-to-go 一次 Adam 更新，gamma=1、lr=3e-4，沒有 critic。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/Users/hsuyuchia/Documents/RACE-RL/src/race_rl/requirements.py</a:t>
            </a:r>
          </a:p>
          <a:p xmlns:a="http://schemas.openxmlformats.org/drawingml/2006/main">
            <a:r>
              <a:t>/Users/hsuyuchia/Documents/RACE-RL/src/race_rl/rewards.py</a:t>
            </a:r>
          </a:p>
          <a:p xmlns:a="http://schemas.openxmlformats.org/drawingml/2006/main">
            <a:r>
              <a:t>/Users/hsuyuchia/Documents/RACE-RL/src/race_rl/training.py</a:t>
            </a:r>
          </a:p>
          <a:p xmlns:a="http://schemas.openxmlformats.org/drawingml/2006/main">
            <a:r>
              <a:t>https://doi.org/10.1007/BF00992696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這是版本 0.8.0 的已完成批次 20261013T164333383414Z。各模型全新 policy，seed 7，60 episodes 64 requests。訓練 26880 次，新增 PPA 評估 26599，cache281。前後凍結各64 requests和eval seed1007。CPU Apple M1 8GiB one torch thread，整體時間10:05:39包含載入、驗證、測試及輸出。硬體與軟體平台快照是完成後收集，未記錄CPU利用率或熱降頻。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/Users/hsuyuchia/Documents/RACE-RL/docs/research/evidence/model_suite_20261014/audit.json</a:t>
            </a:r>
          </a:p>
          <a:p xmlns:a="http://schemas.openxmlformats.org/drawingml/2006/main">
            <a:r>
              <a:t>/Users/hsuyuchia/Documents/RACE-RL/docs/research/evidence/model_suite_20261014/platform.json</a:t>
            </a:r>
          </a:p>
          <a:p xmlns:a="http://schemas.openxmlformats.org/drawingml/2006/main">
            <a:r>
              <a:t>/Users/hsuyuchia/Documents/RACE-RL/docs/research/evidence/model_suite_20261014/model_times.json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本表是 training archive 最佳方案，並非 frozen policy 測試方案。power轉成mW與latency轉ms，area mm²。所有候選物理合法但未達100ms。功耗與面積均符合原caps，不能對這組任務宣称達標設計成功。表中的顆數不構成全域最優，面積又只計compute dies。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/Users/hsuyuchia/Documents/RACE-RL/docs/research/evidence/model_suite_20261014/audit.json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每個 policy 在相同 workload、初始配置與抽樣 seed1007 上各做64次互動，取episode最佳J。相對改善=(Jbefore−Jafter)/Jbefore。只有MobileNetV2 +0.950%，ResNet18/50/VGG16完全持平，ResNet34/VGG19/AlexNet退步。單一訓練種子与一個測試rollout不具穩定性證據。不能把3840次training archive best與64次baseline直接當作等預算比較。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/Users/hsuyuchia/Documents/RACE-RL/docs/research/evidence/model_suite_20261014/audit.json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24897／26880 reward為0或abs≤1e−12，比例92.6228%。首步reward/回合return每回合平均為89.831%。第一步从未知best sentinel=1變成環境實際量測，並不是與預先評估初始设计的改善比較。Reward數學一致，但訊號高度集中。return=−ln(bestJ)，兩者轉換後是同一成效，不能當独立证据。修正不採reset預評估，保留terminal reward作預先指定消融。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/Users/hsuyuchia/Documents/RACE-RL/docs/research/evidence/model_suite_20261014/audit.json</a:t>
            </a:r>
          </a:p>
          <a:p xmlns:a="http://schemas.openxmlformats.org/drawingml/2006/main">
            <a:r>
              <a:t>/Users/hsuyuchia/Documents/RACE-RL/src/race_rl/rewards.py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以下統計只計 training episodes 内部的三個计时項，非完整模型時間。環境step包含 apply、oracle、排程與刷新狀態。總體環境step為最大耗時，更新也有成本，AlexNet更新時間尤其顯著。這輪研究修正未證明runtime加速，增加测量rollouts本身也有額外成本。不將原生後端、平台睡眠等未記錄項推定為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/Users/hsuyuchia/Documents/RACE-RL/docs/research/evidence/model_suite_20261014/audit.json</a:t>
            </a:r>
          </a:p>
          <a:p xmlns:a="http://schemas.openxmlformats.org/drawingml/2006/main">
            <a:r>
              <a:t>/Users/hsuyuchia/Documents/RACE-RL/docs/research/evidence/model_suite_20261014/model_times.json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每次推論至少讀一次各算子的unique常數，兩外部埠合計2e9B/s。lower bound只計必要參數讀取，不含activation、重複讀、mesh、local service或compute。因此4模型已被排除100ms，其他3没有被此bound排除仍不证明可行。本頁數據限定目前spill-all、float64與固定帶寬，不能移植為真實硬體最低延遲。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/Users/hsuyuchia/Documents/RACE-RL/docs/research/evidence/model_suite_20261014/audit.json</a:t>
            </a:r>
          </a:p>
          <a:p xmlns:a="http://schemas.openxmlformats.org/drawingml/2006/main">
            <a:r>
              <a:t>/Users/hsuyuchia/Documents/RACE-RL/src/race_rl/feasibility.py</a:t>
            </a:r>
          </a:p>
          <a:p xmlns:a="http://schemas.openxmlformats.org/drawingml/2006/main">
            <a:r>
              <a:t>/Users/hsuyuchia/Documents/RACE-RL/src/race_rl/oracle.py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組條件由先導實測最佳方案衍生：power×1.10向上round0.001W，latency×1.20向上round0.01s，area=n+1mm²。7個完整設計重算均達標，驗證與RL訓練分離，既未初始化policy也沒有候選預評分。仍保持1–16action支持。任務選擇有先導偏差，不能宣稱任意需求泛化。新版batch 20261014T034614113419Z在資料截點仍运行，已完成1／7，不提早宣稱七模型學習結果。默认每模型3840訓練+1280freeze=5120互動，7模型35840，比旧total27776多29%。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/Users/hsuyuchia/Documents/RACE-RL/configs/model_suite_tasks.json</a:t>
            </a:r>
          </a:p>
          <a:p xmlns:a="http://schemas.openxmlformats.org/drawingml/2006/main">
            <a:r>
              <a:t>/Users/hsuyuchia/Documents/RACE-RL/docs/research/evidence/model_suite_20261014/feasibility_validation.json</a:t>
            </a:r>
          </a:p>
          <a:p xmlns:a="http://schemas.openxmlformats.org/drawingml/2006/main">
            <a:r>
              <a:t>/Users/hsuyuchia/Documents/RACE-RL/experiments/runs/model_suite/training/20261014T034614113419Z/protocol.json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新版主方法仍為dense REINFORCE、60回合、64steps、seed7。前後各10個evaluation seeds1007到1016，每個64requests，保持策略凍結並還原Python/NumPy/Torch RNG。每模型3840training+1280evaluation=5120，七模型35840，比舊27776多29.032%。十個測試種子不能代替十個training seeds。Random和SA比較各3840requests，另報new PPA與cache，預設disabled。紀錄採壓縮SQLite與最新原子checkpoint、各方法一個完整winner；同一行progress與ETA。GUI已有需求輸入和設計圖，但是不是已驗證的產品。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/Users/hsuyuchia/Documents/RACE-RL/src/race_rl/model_suite.py</a:t>
            </a:r>
          </a:p>
          <a:p xmlns:a="http://schemas.openxmlformats.org/drawingml/2006/main">
            <a:r>
              <a:t>/Users/hsuyuchia/Documents/RACE-RL/src/race_rl/recording.py</a:t>
            </a:r>
          </a:p>
          <a:p xmlns:a="http://schemas.openxmlformats.org/drawingml/2006/main">
            <a:r>
              <a:t>/Users/hsuyuchia/Documents/RACE-RL/docs/research/gui.md</a:t>
            </a:r>
          </a:p>
          <a:p xmlns:a="http://schemas.openxmlformats.org/drawingml/2006/main">
            <a:r>
              <a:t>/Users/hsuyuchia/Documents/RACE-RL/experiments/README.md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建議先與教授確認目標硬體模型與可信度需求，再擴充維度。可選目標格式FP16/FP32等，但目前尚未實作，不主張更換必然有助效能。必須區別host數值精度和建模硬體dtype。観測缺口包括完整切分座標和storage owner沒有明確進encoder，Markov sufficiency未證明。公平方法比較先至少random和SA同requests，固定新PPAquery與time separately，5trainingseed和10evaluationseed分層統計。Toy barrier workload需事前宣告。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/Users/hsuyuchia/Documents/RACE-RL/docs/research/hardware_model.md</a:t>
            </a:r>
          </a:p>
          <a:p xmlns:a="http://schemas.openxmlformats.org/drawingml/2006/main">
            <a:r>
              <a:t>/Users/hsuyuchia/Documents/RACE-RL/docs/research/rl_architecture.md</a:t>
            </a:r>
          </a:p>
          <a:p xmlns:a="http://schemas.openxmlformats.org/drawingml/2006/main">
            <a:r>
              <a:t>/Users/hsuyuchia/Documents/RACE-RL/docs/research/model_suite_20261014.md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此處RACE reward與scoring來自当前實作。ε沒有另外加入公式，positivefinite PPA/caps確保cost有限。物理invalid及未測J=1是sentinel而非預測的PPA。B archive需monotone，dense r≥0。G是从當前步到terminal的累積reward，gamma=1。policyLoss不含critic、ratio或PPO epochs。Entropycoefficient0，实际action probabilities includes5% mixture。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/Users/hsuyuchia/Documents/RACE-RL/src/race_rl/requirements.py</a:t>
            </a:r>
          </a:p>
          <a:p xmlns:a="http://schemas.openxmlformats.org/drawingml/2006/main">
            <a:r>
              <a:t>/Users/hsuyuchia/Documents/RACE-RL/src/race_rl/rewards.py</a:t>
            </a:r>
          </a:p>
          <a:p xmlns:a="http://schemas.openxmlformats.org/drawingml/2006/main">
            <a:r>
              <a:t>/Users/hsuyuchia/Documents/RACE-RL/src/race_rl/training.py</a:t>
            </a:r>
          </a:p>
          <a:p xmlns:a="http://schemas.openxmlformats.org/drawingml/2006/main">
            <a:r>
              <a:t>https://doi.org/10.1007/BF00992696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原始試驗為10variants×3seeds，Tiny Toy，2training episodes和1freeze episode，每episode8actions。表只挑選代表性配對，完整H1還包含dnngraph/hardwaregraph/no_attribution/no_criticality。全train469新PPA freeze236，720requests，152multi-tileactions。Δ是left−right的J，負值偏向left，數據不支持優勢。H2的bootstrap CI为[-.01696954,.06081223]，只有3seeds，無正式显著性宣告。Historicraw删除，保留小型protocol、trial、audit及hash，不可声称raw仍可開啟。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/Users/hsuyuchia/Documents/RACE-RL/docs/research/hypothesis_results.md</a:t>
            </a:r>
          </a:p>
          <a:p xmlns:a="http://schemas.openxmlformats.org/drawingml/2006/main">
            <a:r>
              <a:t>/Users/hsuyuchia/Documents/RACE-RL/docs/research/evidence/formal_core_hypotheses/trial_results.json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本報告數值来自本地completed training raw結果與獨立audit，不把新版進行中資料混作完整研究结果。Williams1992僅支持REINFORCE方法來源，不支持本專案一定有效。RapidChiplet官方repo提供toolchain出處，当前RACE有自己的资源排程／能量計帳與合成係數。數值驗證PASSED不等於PPA silicon validation。PPT圖表數值editable，架構圖片保留已核對原圖。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https://doi.org/10.1007/BF00992696</a:t>
            </a:r>
          </a:p>
          <a:p xmlns:a="http://schemas.openxmlformats.org/drawingml/2006/main">
            <a:r>
              <a:t>https://github.com/spcl/rapidchiplet</a:t>
            </a:r>
          </a:p>
          <a:p xmlns:a="http://schemas.openxmlformats.org/drawingml/2006/main">
            <a:r>
              <a:t>/Users/hsuyuchia/Documents/RACE-RL/docs/research/evidence/model_suite_20261014/audit.json</a:t>
            </a:r>
          </a:p>
          <a:p xmlns:a="http://schemas.openxmlformats.org/drawingml/2006/main">
            <a:r>
              <a:t>/Users/hsuyuchia/Documents/RACE-RL/tools/train_model_suite.py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928d7633f47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ef74b80c14b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2218b940641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5437012894d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84b2a6a6d48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abde5930a44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47F9D9-0143-43F6-962F-A0AEE06B3D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B18544-4984-418C-B516-21E5E18053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57E74E-5BB6-45D4-9F64-6085B3AE3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0D391E-0F63-4200-96A4-613E5290F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5BF794-C94D-4914-B297-6AF437F4C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40192B-BA6F-4143-9E44-8A1A30E2C3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87F28C-A2FC-4972-9C45-90CA0B9DD7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AFCC1D-E348-4DFB-BEFA-145A20BD62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23D852-60DF-4DB0-9563-772B4B85A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3FFD19-C116-40C0-9382-CFDE896B4E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bc94bea739491d" /><Relationship Type="http://schemas.openxmlformats.org/officeDocument/2006/relationships/slideLayout" Target="/ppt/slideLayouts/slideLayout1.xml" Id="R0799d645d11d42a1" /><Relationship Type="http://schemas.openxmlformats.org/officeDocument/2006/relationships/slideLayout" Target="/ppt/slideLayouts/slideLayout2.xml" Id="Rfc8f7f4eb7954777" /><Relationship Type="http://schemas.openxmlformats.org/officeDocument/2006/relationships/slideLayout" Target="/ppt/slideLayouts/slideLayout3.xml" Id="Rba7a280cd63e4955" /><Relationship Type="http://schemas.openxmlformats.org/officeDocument/2006/relationships/slideLayout" Target="/ppt/slideLayouts/slideLayout4.xml" Id="R32a2a35cc7784c5d" /><Relationship Type="http://schemas.openxmlformats.org/officeDocument/2006/relationships/slideLayout" Target="/ppt/slideLayouts/slideLayout5.xml" Id="R077c31a9c8024b36" /><Relationship Type="http://schemas.openxmlformats.org/officeDocument/2006/relationships/slideLayout" Target="/ppt/slideLayouts/slideLayout6.xml" Id="R10d6744353674f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99d645d11d42a1"/>
    <p:sldLayoutId xmlns:r="http://schemas.openxmlformats.org/officeDocument/2006/relationships" id="2147483650" r:id="Rfc8f7f4eb7954777"/>
    <p:sldLayoutId xmlns:r="http://schemas.openxmlformats.org/officeDocument/2006/relationships" id="2147483651" r:id="Rba7a280cd63e4955"/>
    <p:sldLayoutId xmlns:r="http://schemas.openxmlformats.org/officeDocument/2006/relationships" id="2147483652" r:id="R32a2a35cc7784c5d"/>
    <p:sldLayoutId xmlns:r="http://schemas.openxmlformats.org/officeDocument/2006/relationships" id="2147483653" r:id="R077c31a9c8024b36"/>
    <p:sldLayoutId xmlns:r="http://schemas.openxmlformats.org/officeDocument/2006/relationships" id="2147483654" r:id="R10d6744353674f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b231858f345d2" /><Relationship Type="http://schemas.openxmlformats.org/officeDocument/2006/relationships/notesSlide" Target="/ppt/notesSlides/notesSlide1.xml" Id="Rcd06a202bcb6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8e76c8f064620" /><Relationship Type="http://schemas.openxmlformats.org/officeDocument/2006/relationships/notesSlide" Target="/ppt/notesSlides/notesSlide2.xml" Id="R02c8c759792e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c034a894a492a" /><Relationship Type="http://schemas.openxmlformats.org/officeDocument/2006/relationships/notesSlide" Target="/ppt/notesSlides/notesSlide3.xml" Id="Rab1cc5adfbb544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e93996e4140d4" /><Relationship Type="http://schemas.openxmlformats.org/officeDocument/2006/relationships/image" Target="/ppt/media/image.png" Id="Rd2edadf157744a08" /><Relationship Type="http://schemas.openxmlformats.org/officeDocument/2006/relationships/notesSlide" Target="/ppt/notesSlides/notesSlide4.xml" Id="R9391c0f6cc6948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cc0e2c625489e" /><Relationship Type="http://schemas.openxmlformats.org/officeDocument/2006/relationships/notesSlide" Target="/ppt/notesSlides/notesSlide5.xml" Id="R69b0cbedd78f45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831791f844856" /><Relationship Type="http://schemas.openxmlformats.org/officeDocument/2006/relationships/notesSlide" Target="/ppt/notesSlides/notesSlide6.xml" Id="R554658f65af247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5bf5a36c445b2" /><Relationship Type="http://schemas.openxmlformats.org/officeDocument/2006/relationships/notesSlide" Target="/ppt/notesSlides/notesSlide7.xml" Id="R09d18cba54a54b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c94c1cecb4a83" /><Relationship Type="http://schemas.openxmlformats.org/officeDocument/2006/relationships/notesSlide" Target="/ppt/notesSlides/notesSlide8.xml" Id="Ra3a20cde2ab0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637197e4b438e" /><Relationship Type="http://schemas.openxmlformats.org/officeDocument/2006/relationships/notesSlide" Target="/ppt/notesSlides/notesSlide9.xml" Id="Rb08e7cc9f52743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33d3d2d944bf9" /><Relationship Type="http://schemas.openxmlformats.org/officeDocument/2006/relationships/chart" Target="/ppt/slides/charts/chart1.xml" Id="R8a6d22f001ee448b" /><Relationship Type="http://schemas.openxmlformats.org/officeDocument/2006/relationships/notesSlide" Target="/ppt/notesSlides/notesSlide10.xml" Id="Rd96ab032507f46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0e58600af4f84" /><Relationship Type="http://schemas.openxmlformats.org/officeDocument/2006/relationships/notesSlide" Target="/ppt/notesSlides/notesSlide11.xml" Id="R06782b1d64b648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ae17f983d43a7" /><Relationship Type="http://schemas.openxmlformats.org/officeDocument/2006/relationships/chart" Target="/ppt/slides/charts/chart2.xml" Id="R78d31cdc3ab94a4a" /><Relationship Type="http://schemas.openxmlformats.org/officeDocument/2006/relationships/notesSlide" Target="/ppt/notesSlides/notesSlide12.xml" Id="Rb1ba733dac104d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a494a4e7a466d" /><Relationship Type="http://schemas.openxmlformats.org/officeDocument/2006/relationships/notesSlide" Target="/ppt/notesSlides/notesSlide13.xml" Id="Rb124dcb04a5149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1d5f4d09c4ff9" /><Relationship Type="http://schemas.openxmlformats.org/officeDocument/2006/relationships/notesSlide" Target="/ppt/notesSlides/notesSlide14.xml" Id="Rda0de543fcaf4e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a291511244a4f" /><Relationship Type="http://schemas.openxmlformats.org/officeDocument/2006/relationships/notesSlide" Target="/ppt/notesSlides/notesSlide15.xml" Id="R7ad608fa856b40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b903a5c7c4fca" /><Relationship Type="http://schemas.openxmlformats.org/officeDocument/2006/relationships/notesSlide" Target="/ppt/notesSlides/notesSlide16.xml" Id="R995b8e7813e342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3ebbafb6b444b" /><Relationship Type="http://schemas.openxmlformats.org/officeDocument/2006/relationships/notesSlide" Target="/ppt/notesSlides/notesSlide17.xml" Id="R6e6812a36a224b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f8f7f1b334760" /><Relationship Type="http://schemas.openxmlformats.org/officeDocument/2006/relationships/notesSlide" Target="/ppt/notesSlides/notesSlide18.xml" Id="R1d3af93ec84e4d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26b7c765e49e7" /><Relationship Type="http://schemas.openxmlformats.org/officeDocument/2006/relationships/notesSlide" Target="/ppt/notesSlides/notesSlide19.xml" Id="R192d1556c255491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J improvement</c:v>
          </c:tx>
          <c:spPr>
            <a:solidFill xmlns:a="http://schemas.openxmlformats.org/drawingml/2006/main">
              <a:srgbClr val="226D6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F9DA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632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F9DA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F9DA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D632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26D65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AD632F"/>
              </a:solidFill>
            </c:spPr>
          </c:dPt>
          <c:cat>
            <c:strLit>
              <c:ptCount val="7"/>
              <c:pt idx="0">
                <c:v>Res18</c:v>
              </c:pt>
              <c:pt idx="1">
                <c:v>Res34</c:v>
              </c:pt>
              <c:pt idx="2">
                <c:v>Res50</c:v>
              </c:pt>
              <c:pt idx="3">
                <c:v>VGG16</c:v>
              </c:pt>
              <c:pt idx="4">
                <c:v>VGG19</c:v>
              </c:pt>
              <c:pt idx="5">
                <c:v>MNetV2</c:v>
              </c:pt>
              <c:pt idx="6">
                <c:v>AlexNet</c:v>
              </c:pt>
            </c:strLit>
          </c:cat>
          <c:val>
            <c:numLit>
              <c:formatCode>0.0%</c:formatCode>
              <c:ptCount val="7"/>
              <c:pt idx="0">
                <c:v>0</c:v>
              </c:pt>
              <c:pt idx="1">
                <c:v>-0.0023274540683639504</c:v>
              </c:pt>
              <c:pt idx="2">
                <c:v>0</c:v>
              </c:pt>
              <c:pt idx="3">
                <c:v>0</c:v>
              </c:pt>
              <c:pt idx="4">
                <c:v>-0.002374603191808086</c:v>
              </c:pt>
              <c:pt idx="5">
                <c:v>0.009499367917715542</c:v>
              </c:pt>
              <c:pt idx="6">
                <c:v>-0.0025270947319733215</c:v>
              </c:pt>
            </c:numLit>
          </c:val>
        </c:ser>
        <c:dLbls>
          <c:numFmt formatCode="0.0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746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9C8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74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2"/>
          <c:min val="-0.00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8EC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36C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4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Action selection</c:v>
          </c:tx>
          <c:spPr>
            <a:solidFill xmlns:a="http://schemas.openxmlformats.org/drawingml/2006/main">
              <a:srgbClr val="296B97"/>
            </a:solidFill>
          </c:spPr>
          <c:invertIfNegative val="0"/>
          <c:cat>
            <c:strLit>
              <c:ptCount val="7"/>
              <c:pt idx="0">
                <c:v>Res18</c:v>
              </c:pt>
              <c:pt idx="1">
                <c:v>Res34</c:v>
              </c:pt>
              <c:pt idx="2">
                <c:v>Res50</c:v>
              </c:pt>
              <c:pt idx="3">
                <c:v>VGG16</c:v>
              </c:pt>
              <c:pt idx="4">
                <c:v>VGG19</c:v>
              </c:pt>
              <c:pt idx="5">
                <c:v>MNetV2</c:v>
              </c:pt>
              <c:pt idx="6">
                <c:v>AlexNet</c:v>
              </c:pt>
            </c:strLit>
          </c:cat>
          <c:val>
            <c:numLit>
              <c:formatCode>General</c:formatCode>
              <c:ptCount val="7"/>
              <c:pt idx="0">
                <c:v>4.635443049779861</c:v>
              </c:pt>
              <c:pt idx="1">
                <c:v>6.78650934001198</c:v>
              </c:pt>
              <c:pt idx="2">
                <c:v>8.7730829450166</c:v>
              </c:pt>
              <c:pt idx="3">
                <c:v>5.6165903270031174</c:v>
              </c:pt>
              <c:pt idx="4">
                <c:v>6.313399799979137</c:v>
              </c:pt>
              <c:pt idx="5">
                <c:v>8.034186955384211</c:v>
              </c:pt>
              <c:pt idx="6">
                <c:v>4.375974332838086</c:v>
              </c:pt>
            </c:numLit>
          </c:val>
        </c:ser>
        <c:ser>
          <c:idx val="1"/>
          <c:order val="1"/>
          <c:tx>
            <c:v>Environment step</c:v>
          </c:tx>
          <c:spPr>
            <a:solidFill xmlns:a="http://schemas.openxmlformats.org/drawingml/2006/main">
              <a:srgbClr val="226D65"/>
            </a:solidFill>
          </c:spPr>
          <c:invertIfNegative val="0"/>
          <c:cat>
            <c:strLit>
              <c:ptCount val="7"/>
              <c:pt idx="0">
                <c:v>Res18</c:v>
              </c:pt>
              <c:pt idx="1">
                <c:v>Res34</c:v>
              </c:pt>
              <c:pt idx="2">
                <c:v>Res50</c:v>
              </c:pt>
              <c:pt idx="3">
                <c:v>VGG16</c:v>
              </c:pt>
              <c:pt idx="4">
                <c:v>VGG19</c:v>
              </c:pt>
              <c:pt idx="5">
                <c:v>MNetV2</c:v>
              </c:pt>
              <c:pt idx="6">
                <c:v>AlexNet</c:v>
              </c:pt>
            </c:strLit>
          </c:cat>
          <c:val>
            <c:numLit>
              <c:formatCode>General</c:formatCode>
              <c:ptCount val="7"/>
              <c:pt idx="0">
                <c:v>25.560730460249275</c:v>
              </c:pt>
              <c:pt idx="1">
                <c:v>62.01299702003016</c:v>
              </c:pt>
              <c:pt idx="2">
                <c:v>126.08462334557359</c:v>
              </c:pt>
              <c:pt idx="3">
                <c:v>22.22038914852892</c:v>
              </c:pt>
              <c:pt idx="4">
                <c:v>28.71450626620208</c:v>
              </c:pt>
              <c:pt idx="5">
                <c:v>102.77971477994191</c:v>
              </c:pt>
              <c:pt idx="6">
                <c:v>9.561873907896613</c:v>
              </c:pt>
            </c:numLit>
          </c:val>
        </c:ser>
        <c:ser>
          <c:idx val="2"/>
          <c:order val="2"/>
          <c:tx>
            <c:v>Policy update</c:v>
          </c:tx>
          <c:spPr>
            <a:solidFill xmlns:a="http://schemas.openxmlformats.org/drawingml/2006/main">
              <a:srgbClr val="AD632F"/>
            </a:solidFill>
          </c:spPr>
          <c:invertIfNegative val="0"/>
          <c:cat>
            <c:strLit>
              <c:ptCount val="7"/>
              <c:pt idx="0">
                <c:v>Res18</c:v>
              </c:pt>
              <c:pt idx="1">
                <c:v>Res34</c:v>
              </c:pt>
              <c:pt idx="2">
                <c:v>Res50</c:v>
              </c:pt>
              <c:pt idx="3">
                <c:v>VGG16</c:v>
              </c:pt>
              <c:pt idx="4">
                <c:v>VGG19</c:v>
              </c:pt>
              <c:pt idx="5">
                <c:v>MNetV2</c:v>
              </c:pt>
              <c:pt idx="6">
                <c:v>AlexNet</c:v>
              </c:pt>
            </c:strLit>
          </c:cat>
          <c:val>
            <c:numLit>
              <c:formatCode>General</c:formatCode>
              <c:ptCount val="7"/>
              <c:pt idx="0">
                <c:v>14.486499237637812</c:v>
              </c:pt>
              <c:pt idx="1">
                <c:v>23.351601019466763</c:v>
              </c:pt>
              <c:pt idx="2">
                <c:v>33.532851602792896</c:v>
              </c:pt>
              <c:pt idx="3">
                <c:v>21.168688079846714</c:v>
              </c:pt>
              <c:pt idx="4">
                <c:v>24.98790617909399</c:v>
              </c:pt>
              <c:pt idx="5">
                <c:v>29.93267829870068</c:v>
              </c:pt>
              <c:pt idx="6">
                <c:v>16.571296827834644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9C8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74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8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latin typeface="Times New Roman"/>
                    <a:ea typeface="Times New Roman"/>
                    <a:cs typeface="Times New Roman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6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3746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ACE-RL">
            <a:extLst xmlns:a="http://schemas.openxmlformats.org/drawingml/2006/main">
              <a:ext uri="{FF2B5EF4-FFF2-40B4-BE49-F238E27FC236}">
                <a16:creationId xmlns:a16="http://schemas.microsoft.com/office/drawing/2014/main" id="{0C3D9FAD-48CA-4429-B288-8D40804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RACE-RL</a:t>
            </a:r>
          </a:p>
        </p:txBody>
      </p:sp>
      <p:sp>
        <p:nvSpPr>
          <p:cNvPr id="2" name="Chiplet 聯合設計空間探索">
            <a:extLst xmlns:a="http://schemas.openxmlformats.org/drawingml/2006/main">
              <a:ext uri="{FF2B5EF4-FFF2-40B4-BE49-F238E27FC236}">
                <a16:creationId xmlns:a16="http://schemas.microsoft.com/office/drawing/2014/main" id="{B5E890DC-0141-4A42-ABCF-883C1A17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Chiplet </a:t>
            </a:r>
            <a:r>
              <a:rPr b="0">
                <a:latin typeface="DFKai-SB"/>
                <a:ea typeface="DFKai-SB"/>
                <a:cs typeface="DFKai-SB"/>
              </a:rPr>
              <a:t>聯合設計空間探索</a:t>
            </a:r>
          </a:p>
        </p:txBody>
      </p:sp>
      <p:sp>
        <p:nvSpPr>
          <p:cNvPr id="3" name="Relational Attribution and Coupled-">
            <a:extLst xmlns:a="http://schemas.openxmlformats.org/drawingml/2006/main">
              <a:ext uri="{FF2B5EF4-FFF2-40B4-BE49-F238E27FC236}">
                <a16:creationId xmlns:a16="http://schemas.microsoft.com/office/drawing/2014/main" id="{2C7C25FD-F73F-492F-83C8-D1B06BB7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Relational Attribution and Coupled-Edit</a:t>
            </a:r>
          </a:p>
          <a:p xmlns:a="http://schemas.openxmlformats.org/drawingml/2006/main">
            <a:pPr algn="l">
              <a:defRPr sz="23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Reinforcement Learning</a:t>
            </a:r>
          </a:p>
        </p:txBody>
      </p:sp>
      <p:sp>
        <p:nvSpPr>
          <p:cNvPr id="4" name="研究進度與實驗檢討">
            <a:extLst xmlns:a="http://schemas.openxmlformats.org/drawingml/2006/main">
              <a:ext uri="{FF2B5EF4-FFF2-40B4-BE49-F238E27FC236}">
                <a16:creationId xmlns:a16="http://schemas.microsoft.com/office/drawing/2014/main" id="{6589491C-6B2A-4972-A982-802B417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研究進度與實驗檢討</a:t>
            </a:r>
          </a:p>
        </p:txBody>
      </p:sp>
      <p:sp>
        <p:nvSpPr>
          <p:cNvPr id="5" name="2026 年 10 月 14 日">
            <a:extLst xmlns:a="http://schemas.openxmlformats.org/drawingml/2006/main">
              <a:ext uri="{FF2B5EF4-FFF2-40B4-BE49-F238E27FC236}">
                <a16:creationId xmlns:a16="http://schemas.microsoft.com/office/drawing/2014/main" id="{E0DF4300-AF17-4875-A25A-CD04F4C6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2026 </a:t>
            </a:r>
            <a:r>
              <a:rPr b="0">
                <a:latin typeface="DFKai-SB"/>
                <a:ea typeface="DFKai-SB"/>
                <a:cs typeface="DFKai-SB"/>
              </a:rPr>
              <a:t>年</a:t>
            </a:r>
            <a:r>
              <a:rPr>
                <a:latin typeface="Times New Roman"/>
                <a:ea typeface="Times New Roman"/>
                <a:cs typeface="Times New Roman"/>
              </a:rPr>
              <a:t> 10 </a:t>
            </a:r>
            <a:r>
              <a:rPr b="0">
                <a:latin typeface="DFKai-SB"/>
                <a:ea typeface="DFKai-SB"/>
                <a:cs typeface="DFKai-SB"/>
              </a:rPr>
              <a:t>月</a:t>
            </a:r>
            <a:r>
              <a:rPr>
                <a:latin typeface="Times New Roman"/>
                <a:ea typeface="Times New Roman"/>
                <a:cs typeface="Times New Roman"/>
              </a:rPr>
              <a:t> 14 </a:t>
            </a:r>
            <a:r>
              <a:rPr b="0">
                <a:latin typeface="DFKai-SB"/>
                <a:ea typeface="DFKai-SB"/>
                <a:cs typeface="DFKai-SB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97215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47E7BD-7845-445D-98CB-779211B4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研究問題與目標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FD105E13-4071-4A49-99E3-2C5D6BA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" name="廠商 PPA 需求如何驅動 Chiplet 與 DNN 的聯合設計？">
            <a:extLst xmlns:a="http://schemas.openxmlformats.org/drawingml/2006/main">
              <a:ext uri="{FF2B5EF4-FFF2-40B4-BE49-F238E27FC236}">
                <a16:creationId xmlns:a16="http://schemas.microsoft.com/office/drawing/2014/main" id="{966629D3-E4BD-4CE8-8092-C0C1F104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廠商</a:t>
            </a:r>
            <a:r>
              <a:rPr>
                <a:latin typeface="Times New Roman"/>
                <a:ea typeface="Times New Roman"/>
                <a:cs typeface="Times New Roman"/>
              </a:rPr>
              <a:t> PPA </a:t>
            </a:r>
            <a:r>
              <a:rPr b="0">
                <a:latin typeface="DFKai-SB"/>
                <a:ea typeface="DFKai-SB"/>
                <a:cs typeface="DFKai-SB"/>
              </a:rPr>
              <a:t>需求如何驅動</a:t>
            </a:r>
            <a:r>
              <a:rPr>
                <a:latin typeface="Times New Roman"/>
                <a:ea typeface="Times New Roman"/>
                <a:cs typeface="Times New Roman"/>
              </a:rPr>
              <a:t> Chiplet </a:t>
            </a:r>
            <a:r>
              <a:rPr b="0">
                <a:latin typeface="DFKai-SB"/>
                <a:ea typeface="DFKai-SB"/>
                <a:cs typeface="DFKai-SB"/>
              </a:rPr>
              <a:t>與</a:t>
            </a:r>
            <a:r>
              <a:rPr>
                <a:latin typeface="Times New Roman"/>
                <a:ea typeface="Times New Roman"/>
                <a:cs typeface="Times New Roman"/>
              </a:rPr>
              <a:t> DNN </a:t>
            </a:r>
            <a:r>
              <a:rPr b="0">
                <a:latin typeface="DFKai-SB"/>
                <a:ea typeface="DFKai-SB"/>
                <a:cs typeface="DFKai-SB"/>
              </a:rPr>
              <a:t>的聯合設計？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D9C8B-013F-4FA8-8B35-26EDB8E1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47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同一個</a:t>
            </a:r>
            <a:r>
              <a:rPr>
                <a:latin typeface="Times New Roman"/>
                <a:ea typeface="Times New Roman"/>
                <a:cs typeface="Times New Roman"/>
              </a:rPr>
              <a:t> Agent </a:t>
            </a:r>
            <a:r>
              <a:rPr b="0">
                <a:latin typeface="DFKai-SB"/>
                <a:ea typeface="DFKai-SB"/>
                <a:cs typeface="DFKai-SB"/>
              </a:rPr>
              <a:t>搜尋顆數、模型切分及工作／資料配置</a:t>
            </a:r>
          </a:p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環境為完整</a:t>
            </a:r>
            <a:r>
              <a:rPr>
                <a:latin typeface="Times New Roman"/>
                <a:ea typeface="Times New Roman"/>
                <a:cs typeface="Times New Roman"/>
              </a:rPr>
              <a:t> action </a:t>
            </a:r>
            <a:r>
              <a:rPr b="0">
                <a:latin typeface="DFKai-SB"/>
                <a:ea typeface="DFKai-SB"/>
                <a:cs typeface="DFKai-SB"/>
              </a:rPr>
              <a:t>計算</a:t>
            </a:r>
            <a:r>
              <a:rPr>
                <a:latin typeface="Times New Roman"/>
                <a:ea typeface="Times New Roman"/>
                <a:cs typeface="Times New Roman"/>
              </a:rPr>
              <a:t> PPA</a:t>
            </a:r>
            <a:r>
              <a:rPr b="0">
                <a:latin typeface="DFKai-SB"/>
                <a:ea typeface="DFKai-SB"/>
                <a:cs typeface="DFKai-SB"/>
              </a:rPr>
              <a:t>，回傳</a:t>
            </a:r>
            <a:r>
              <a:rPr>
                <a:latin typeface="Times New Roman"/>
                <a:ea typeface="Times New Roman"/>
                <a:cs typeface="Times New Roman"/>
              </a:rPr>
              <a:t> reward </a:t>
            </a:r>
            <a:r>
              <a:rPr b="0">
                <a:latin typeface="DFKai-SB"/>
                <a:ea typeface="DFKai-SB"/>
                <a:cs typeface="DFKai-SB"/>
              </a:rPr>
              <a:t>與新狀態</a:t>
            </a:r>
          </a:p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暫時更差的物理合法設計仍可探索，保留多步改善機會</a:t>
            </a:r>
          </a:p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以相同搜尋預算檢驗策略學習與聯合修改的效益</a:t>
            </a:r>
          </a:p>
        </p:txBody>
      </p:sp>
    </p:spTree>
    <p:extLst>
      <p:ext uri="{BB962C8B-B14F-4D97-AF65-F5344CB8AC3E}">
        <p14:creationId xmlns:p14="http://schemas.microsoft.com/office/powerpoint/2010/main" val="1380578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6A9DF2-2F2E-4D3C-871A-9FEF2BB9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核心研究假說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2B54003-BC80-4E39-8D8C-DB4933E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08F9F-D81B-4EBF-A2C4-C3FC0542426A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4238625"/>
                <a:gridCol w="5238750"/>
              </a:tblGrid>
              <a:tr h="785813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202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假說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研究機制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必要比較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785813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202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H1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關聯圖與瓶頸歸因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完整表示與簡化／去歸因表示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202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H2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相依工作聯合修改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聯合修改與獨立修改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785813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202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H3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最佳值與排程訊號的獎勵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</a:t>
                      </a:r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202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terminal </a:t>
                      </a:r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與</a:t>
                      </a:r>
                      <a:r>
                        <a:rPr sz="202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potential </a:t>
                      </a:r>
                      <a:r>
                        <a:rPr sz="202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消融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目前 Toy pilot 尚未支持 H1／H2／H3">
            <a:extLst xmlns:a="http://schemas.openxmlformats.org/drawingml/2006/main">
              <a:ext uri="{FF2B5EF4-FFF2-40B4-BE49-F238E27FC236}">
                <a16:creationId xmlns:a16="http://schemas.microsoft.com/office/drawing/2014/main" id="{8B47C9CE-BBF7-441B-AA33-23B98EF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05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目前</a:t>
            </a:r>
            <a:r>
              <a:rPr>
                <a:latin typeface="Times New Roman"/>
                <a:ea typeface="Times New Roman"/>
                <a:cs typeface="Times New Roman"/>
              </a:rPr>
              <a:t> Toy pilot </a:t>
            </a:r>
            <a:r>
              <a:rPr b="0">
                <a:latin typeface="DFKai-SB"/>
                <a:ea typeface="DFKai-SB"/>
                <a:cs typeface="DFKai-SB"/>
              </a:rPr>
              <a:t>尚未支持</a:t>
            </a:r>
            <a:r>
              <a:rPr>
                <a:latin typeface="Times New Roman"/>
                <a:ea typeface="Times New Roman"/>
                <a:cs typeface="Times New Roman"/>
              </a:rPr>
              <a:t> H1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H2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H3</a:t>
            </a:r>
          </a:p>
        </p:txBody>
      </p:sp>
      <p:sp>
        <p:nvSpPr>
          <p:cNvPr id="5" name="後續需要具辨識度的障礙案例與多個獨立訓練種子">
            <a:extLst xmlns:a="http://schemas.openxmlformats.org/drawingml/2006/main">
              <a:ext uri="{FF2B5EF4-FFF2-40B4-BE49-F238E27FC236}">
                <a16:creationId xmlns:a16="http://schemas.microsoft.com/office/drawing/2014/main" id="{70384902-E753-497A-899F-1E84A385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後續需要具辨識度的障礙案例與多個獨立訓練種子</a:t>
            </a:r>
          </a:p>
        </p:txBody>
      </p:sp>
    </p:spTree>
    <p:extLst>
      <p:ext uri="{BB962C8B-B14F-4D97-AF65-F5344CB8AC3E}">
        <p14:creationId xmlns:p14="http://schemas.microsoft.com/office/powerpoint/2010/main" val="990546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C262A0-2AA3-4906-90FF-68978255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單一</a:t>
            </a:r>
            <a:r>
              <a:rPr>
                <a:latin typeface="Times New Roman"/>
                <a:ea typeface="Times New Roman"/>
                <a:cs typeface="Times New Roman"/>
              </a:rPr>
              <a:t> RL </a:t>
            </a:r>
            <a:r>
              <a:rPr b="0">
                <a:latin typeface="DFKai-SB"/>
                <a:ea typeface="DFKai-SB"/>
                <a:cs typeface="DFKai-SB"/>
              </a:rPr>
              <a:t>互動架構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6212965E-804C-463C-8161-FDFE2B7D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CAD0B-D624-418D-9538-14A8AA3694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dadf157744a08"/>
          <a:stretch xmlns:a="http://schemas.openxmlformats.org/drawingml/2006/main"/>
        </p:blipFill>
        <p:spPr>
          <a:xfrm xmlns:a="http://schemas.openxmlformats.org/drawingml/2006/main">
            <a:off x="533400" y="1448753"/>
            <a:ext cx="11125200" cy="4589145"/>
          </a:xfrm>
          <a:prstGeom xmlns:a="http://schemas.openxmlformats.org/drawingml/2006/main" prst="rect">
            <a:avLst/>
          </a:prstGeom>
        </p:spPr>
      </p:pic>
      <p:sp>
        <p:nvSpPr>
          <p:cNvPr id="4" name="起始零 PPA 評估，完整 action 產生後立即交給環境">
            <a:extLst xmlns:a="http://schemas.openxmlformats.org/drawingml/2006/main">
              <a:ext uri="{FF2B5EF4-FFF2-40B4-BE49-F238E27FC236}">
                <a16:creationId xmlns:a16="http://schemas.microsoft.com/office/drawing/2014/main" id="{8F269241-BD58-4887-AE6F-6536AB97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起始零</a:t>
            </a:r>
            <a:r>
              <a:rPr>
                <a:latin typeface="Times New Roman"/>
                <a:ea typeface="Times New Roman"/>
                <a:cs typeface="Times New Roman"/>
              </a:rPr>
              <a:t> PPA </a:t>
            </a:r>
            <a:r>
              <a:rPr b="0">
                <a:latin typeface="DFKai-SB"/>
                <a:ea typeface="DFKai-SB"/>
                <a:cs typeface="DFKai-SB"/>
              </a:rPr>
              <a:t>評估，完整</a:t>
            </a:r>
            <a:r>
              <a:rPr>
                <a:latin typeface="Times New Roman"/>
                <a:ea typeface="Times New Roman"/>
                <a:cs typeface="Times New Roman"/>
              </a:rPr>
              <a:t> action </a:t>
            </a:r>
            <a:r>
              <a:rPr b="0">
                <a:latin typeface="DFKai-SB"/>
                <a:ea typeface="DFKai-SB"/>
                <a:cs typeface="DFKai-SB"/>
              </a:rPr>
              <a:t>產生後立即交給環境</a:t>
            </a:r>
          </a:p>
        </p:txBody>
      </p:sp>
    </p:spTree>
    <p:extLst>
      <p:ext uri="{BB962C8B-B14F-4D97-AF65-F5344CB8AC3E}">
        <p14:creationId xmlns:p14="http://schemas.microsoft.com/office/powerpoint/2010/main" val="1164269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A0C289-8128-4D43-BC08-F0F30D74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目前探索空間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35EB3705-8659-4FD6-8832-877C1AF2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80FCF-AF26-41BE-B810-D6E5D7266072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191000"/>
                <a:gridCol w="4857750"/>
              </a:tblGrid>
              <a:tr h="7239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設計項目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目前可搜尋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固定或尚未納入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7239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架構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1–16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顆，重建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mesh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晶粒規格與拓樸類型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切分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4D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的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H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2D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的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feature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batch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、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7239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配置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Tile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位置與相依聯合修改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正式相依範圍最多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個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Tile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資料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dram0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dram1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與運算位置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跨層重用及完整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dataflow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目前仍是部分探索空間，尚未完成完整 CNN DSE">
            <a:extLst xmlns:a="http://schemas.openxmlformats.org/drawingml/2006/main">
              <a:ext uri="{FF2B5EF4-FFF2-40B4-BE49-F238E27FC236}">
                <a16:creationId xmlns:a16="http://schemas.microsoft.com/office/drawing/2014/main" id="{38C03438-EEDC-48D0-B761-53233E91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目前仍是部分探索空間，尚未完成完整</a:t>
            </a:r>
            <a:r>
              <a:rPr>
                <a:latin typeface="Times New Roman"/>
                <a:ea typeface="Times New Roman"/>
                <a:cs typeface="Times New Roman"/>
              </a:rPr>
              <a:t> CNN DSE</a:t>
            </a:r>
          </a:p>
        </p:txBody>
      </p:sp>
      <p:sp>
        <p:nvSpPr>
          <p:cNvPr id="5" name="Observation 尚未完整編碼切分座標與 storage own">
            <a:extLst xmlns:a="http://schemas.openxmlformats.org/drawingml/2006/main">
              <a:ext uri="{FF2B5EF4-FFF2-40B4-BE49-F238E27FC236}">
                <a16:creationId xmlns:a16="http://schemas.microsoft.com/office/drawing/2014/main" id="{DDCE247B-F54A-440B-8913-0F1BEDB7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055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 </a:t>
            </a:r>
            <a:r>
              <a:rPr b="0">
                <a:latin typeface="DFKai-SB"/>
                <a:ea typeface="DFKai-SB"/>
                <a:cs typeface="DFKai-SB"/>
              </a:rPr>
              <a:t>尚未完整編碼切分座標與</a:t>
            </a:r>
            <a:r>
              <a:rPr>
                <a:latin typeface="Times New Roman"/>
                <a:ea typeface="Times New Roman"/>
                <a:cs typeface="Times New Roman"/>
              </a:rPr>
              <a:t> storage owner</a:t>
            </a:r>
          </a:p>
        </p:txBody>
      </p:sp>
    </p:spTree>
    <p:extLst>
      <p:ext uri="{BB962C8B-B14F-4D97-AF65-F5344CB8AC3E}">
        <p14:creationId xmlns:p14="http://schemas.microsoft.com/office/powerpoint/2010/main" val="1185692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A8F6E6-E319-4A3C-988C-DF4B9BE5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硬體與資料搬移假設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2A9CDE03-C7E0-4018-AC3F-EDFD91D2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21A55-E5CD-490E-BF30-F8D656048E4B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286250"/>
                <a:gridCol w="4572000"/>
              </a:tblGrid>
              <a:tr h="6858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元件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目前模型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資料服務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Compute die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G modeled op/s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mm²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MiB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本地記憶體，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GB/s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Mesh link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固定矩形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mesh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每方向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 GB/s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外部服務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個，各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 GiB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各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 GB/s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，接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c0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cN−1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Tile dataflow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spill-all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讀入、計算、輸出寫回外部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延遲採資源排程 makespan，功耗採總能量／延遲">
            <a:extLst xmlns:a="http://schemas.openxmlformats.org/drawingml/2006/main">
              <a:ext uri="{FF2B5EF4-FFF2-40B4-BE49-F238E27FC236}">
                <a16:creationId xmlns:a16="http://schemas.microsoft.com/office/drawing/2014/main" id="{4B703E97-44AF-4F58-B175-9F6284E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延遲採資源排程</a:t>
            </a:r>
            <a:r>
              <a:rPr>
                <a:latin typeface="Times New Roman"/>
                <a:ea typeface="Times New Roman"/>
                <a:cs typeface="Times New Roman"/>
              </a:rPr>
              <a:t> makespan</a:t>
            </a:r>
            <a:r>
              <a:rPr b="0">
                <a:latin typeface="DFKai-SB"/>
                <a:ea typeface="DFKai-SB"/>
                <a:cs typeface="DFKai-SB"/>
              </a:rPr>
              <a:t>，功耗採總能量／延遲</a:t>
            </a:r>
          </a:p>
        </p:txBody>
      </p:sp>
      <p:sp>
        <p:nvSpPr>
          <p:cNvPr id="5" name="面積只含 compute dies，容量密度與 PPA 係數尚未校準">
            <a:extLst xmlns:a="http://schemas.openxmlformats.org/drawingml/2006/main">
              <a:ext uri="{FF2B5EF4-FFF2-40B4-BE49-F238E27FC236}">
                <a16:creationId xmlns:a16="http://schemas.microsoft.com/office/drawing/2014/main" id="{A710C2F8-3E14-4A28-AB22-93FA0FB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436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面積只含</a:t>
            </a:r>
            <a:r>
              <a:rPr>
                <a:latin typeface="Times New Roman"/>
                <a:ea typeface="Times New Roman"/>
                <a:cs typeface="Times New Roman"/>
              </a:rPr>
              <a:t> compute dies</a:t>
            </a:r>
            <a:r>
              <a:rPr b="0">
                <a:latin typeface="DFKai-SB"/>
                <a:ea typeface="DFKai-SB"/>
                <a:cs typeface="DFKai-SB"/>
              </a:rPr>
              <a:t>，容量密度與</a:t>
            </a:r>
            <a:r>
              <a:rPr>
                <a:latin typeface="Times New Roman"/>
                <a:ea typeface="Times New Roman"/>
                <a:cs typeface="Times New Roman"/>
              </a:rPr>
              <a:t> PPA </a:t>
            </a:r>
            <a:r>
              <a:rPr b="0">
                <a:latin typeface="DFKai-SB"/>
                <a:ea typeface="DFKai-SB"/>
                <a:cs typeface="DFKai-SB"/>
              </a:rPr>
              <a:t>係數尚未校準</a:t>
            </a:r>
          </a:p>
        </p:txBody>
      </p:sp>
    </p:spTree>
    <p:extLst>
      <p:ext uri="{BB962C8B-B14F-4D97-AF65-F5344CB8AC3E}">
        <p14:creationId xmlns:p14="http://schemas.microsoft.com/office/powerpoint/2010/main" val="2089900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D6267A-DFBE-4818-B9FF-0B91BA1B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PPA </a:t>
            </a:r>
            <a:r>
              <a:rPr b="0">
                <a:latin typeface="DFKai-SB"/>
                <a:ea typeface="DFKai-SB"/>
                <a:cs typeface="DFKai-SB"/>
              </a:rPr>
              <a:t>評分與策略更新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90EFFC28-2FBC-4F17-B11F-4C482530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3" name="先滿足三項限制，再按使用者偏好比較">
            <a:extLst xmlns:a="http://schemas.openxmlformats.org/drawingml/2006/main">
              <a:ext uri="{FF2B5EF4-FFF2-40B4-BE49-F238E27FC236}">
                <a16:creationId xmlns:a16="http://schemas.microsoft.com/office/drawing/2014/main" id="{556C2C12-A4AB-485D-AB5D-3D0924F9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先滿足三項限制，再按使用者偏好比較</a:t>
            </a:r>
          </a:p>
        </p:txBody>
      </p:sp>
      <p:sp>
        <p:nvSpPr>
          <p:cNvPr id="4" name="C = wP(P/Pmax) + wL(L/Lmax) + wA(A/">
            <a:extLst xmlns:a="http://schemas.openxmlformats.org/drawingml/2006/main">
              <a:ext uri="{FF2B5EF4-FFF2-40B4-BE49-F238E27FC236}">
                <a16:creationId xmlns:a16="http://schemas.microsoft.com/office/drawing/2014/main" id="{695CBDDB-8438-46D0-B92A-E0AD145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 = wP(P/Pmax) + wL(L/Lmax) + wA(A/Amax)</a:t>
            </a:r>
          </a:p>
        </p:txBody>
      </p:sp>
      <p:sp>
        <p:nvSpPr>
          <p:cNvPr id="5" name="平衡各 1/3，偏重項目 60%，其餘各 20%，也可自訂">
            <a:extLst xmlns:a="http://schemas.openxmlformats.org/drawingml/2006/main">
              <a:ext uri="{FF2B5EF4-FFF2-40B4-BE49-F238E27FC236}">
                <a16:creationId xmlns:a16="http://schemas.microsoft.com/office/drawing/2014/main" id="{43FD972A-54A2-411A-89C7-8E4FA4E0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平衡各</a:t>
            </a:r>
            <a:r>
              <a:rPr>
                <a:latin typeface="Times New Roman"/>
                <a:ea typeface="Times New Roman"/>
                <a:cs typeface="Times New Roman"/>
              </a:rPr>
              <a:t> 1/3</a:t>
            </a:r>
            <a:r>
              <a:rPr b="0">
                <a:latin typeface="DFKai-SB"/>
                <a:ea typeface="DFKai-SB"/>
                <a:cs typeface="DFKai-SB"/>
              </a:rPr>
              <a:t>，偏重項目</a:t>
            </a:r>
            <a:r>
              <a:rPr>
                <a:latin typeface="Times New Roman"/>
                <a:ea typeface="Times New Roman"/>
                <a:cs typeface="Times New Roman"/>
              </a:rPr>
              <a:t> 60%</a:t>
            </a:r>
            <a:r>
              <a:rPr b="0">
                <a:latin typeface="DFKai-SB"/>
                <a:ea typeface="DFKai-SB"/>
                <a:cs typeface="DFKai-SB"/>
              </a:rPr>
              <a:t>，其餘各</a:t>
            </a:r>
            <a:r>
              <a:rPr>
                <a:latin typeface="Times New Roman"/>
                <a:ea typeface="Times New Roman"/>
                <a:cs typeface="Times New Roman"/>
              </a:rPr>
              <a:t> 20%</a:t>
            </a:r>
            <a:r>
              <a:rPr b="0">
                <a:latin typeface="DFKai-SB"/>
                <a:ea typeface="DFKai-SB"/>
                <a:cs typeface="DFKai-SB"/>
              </a:rPr>
              <a:t>，也可自訂</a:t>
            </a:r>
          </a:p>
        </p:txBody>
      </p:sp>
      <p:sp>
        <p:nvSpPr>
          <p:cNvPr id="6" name="rₜ = ln(Bₜ₋₁/Bₜ)，Bₜ 為回合內已量測的最佳 J">
            <a:extLst xmlns:a="http://schemas.openxmlformats.org/drawingml/2006/main">
              <a:ext uri="{FF2B5EF4-FFF2-40B4-BE49-F238E27FC236}">
                <a16:creationId xmlns:a16="http://schemas.microsoft.com/office/drawing/2014/main" id="{E61C3394-193D-49DE-82FD-BE201BB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rₜ = ln(Bₜ₋₁/Bₜ)</a:t>
            </a:r>
            <a:r>
              <a:rPr b="0"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Bₜ </a:t>
            </a:r>
            <a:r>
              <a:rPr b="0">
                <a:latin typeface="DFKai-SB"/>
                <a:ea typeface="DFKai-SB"/>
                <a:cs typeface="DFKai-SB"/>
              </a:rPr>
              <a:t>為回合內已量測的最佳</a:t>
            </a:r>
            <a:r>
              <a:rPr>
                <a:latin typeface="Times New Roman"/>
                <a:ea typeface="Times New Roman"/>
                <a:cs typeface="Times New Roman"/>
              </a:rPr>
              <a:t> J</a:t>
            </a:r>
          </a:p>
        </p:txBody>
      </p:sp>
      <p:sp>
        <p:nvSpPr>
          <p:cNvPr id="7" name="每個完整 action 都取得環境回饋，回合結束才更新策略">
            <a:extLst xmlns:a="http://schemas.openxmlformats.org/drawingml/2006/main">
              <a:ext uri="{FF2B5EF4-FFF2-40B4-BE49-F238E27FC236}">
                <a16:creationId xmlns:a16="http://schemas.microsoft.com/office/drawing/2014/main" id="{2716733A-6653-4D14-A68D-F4876CC7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720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每個完整</a:t>
            </a:r>
            <a:r>
              <a:rPr>
                <a:latin typeface="Times New Roman"/>
                <a:ea typeface="Times New Roman"/>
                <a:cs typeface="Times New Roman"/>
              </a:rPr>
              <a:t> action </a:t>
            </a:r>
            <a:r>
              <a:rPr b="0">
                <a:latin typeface="DFKai-SB"/>
                <a:ea typeface="DFKai-SB"/>
                <a:cs typeface="DFKai-SB"/>
              </a:rPr>
              <a:t>都取得環境回饋，回合結束才更新策略</a:t>
            </a:r>
          </a:p>
        </p:txBody>
      </p:sp>
      <p:sp>
        <p:nvSpPr>
          <p:cNvPr id="8" name="既有 5% uniform mixture 保留探索，正式預設 ent">
            <a:extLst xmlns:a="http://schemas.openxmlformats.org/drawingml/2006/main">
              <a:ext uri="{FF2B5EF4-FFF2-40B4-BE49-F238E27FC236}">
                <a16:creationId xmlns:a16="http://schemas.microsoft.com/office/drawing/2014/main" id="{7E27DBB2-1BE2-46B6-BE45-6BAEA91B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既有</a:t>
            </a:r>
            <a:r>
              <a:rPr>
                <a:latin typeface="Times New Roman"/>
                <a:ea typeface="Times New Roman"/>
                <a:cs typeface="Times New Roman"/>
              </a:rPr>
              <a:t> 5% uniform mixture </a:t>
            </a:r>
            <a:r>
              <a:rPr b="0">
                <a:latin typeface="DFKai-SB"/>
                <a:ea typeface="DFKai-SB"/>
                <a:cs typeface="DFKai-SB"/>
              </a:rPr>
              <a:t>保留探索，正式預設</a:t>
            </a:r>
            <a:r>
              <a:rPr>
                <a:latin typeface="Times New Roman"/>
                <a:ea typeface="Times New Roman"/>
                <a:cs typeface="Times New Roman"/>
              </a:rPr>
              <a:t> entropy coefficient = 0</a:t>
            </a:r>
          </a:p>
        </p:txBody>
      </p:sp>
    </p:spTree>
    <p:extLst>
      <p:ext uri="{BB962C8B-B14F-4D97-AF65-F5344CB8AC3E}">
        <p14:creationId xmlns:p14="http://schemas.microsoft.com/office/powerpoint/2010/main" val="32840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03A615-77DA-4F5F-9699-0140A228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已完成的七模型基準實驗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E38B4AEB-1924-4839-AE82-CB132C8D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C8CAD-7847-44C6-933D-E5B71307B73A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667625"/>
              </a:tblGrid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設定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基準批次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模型數／輸入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個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CNN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64×64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float64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訓練預算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每模型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60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回合，每回合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64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次互動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PPA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限制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W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ms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mm²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PPA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平均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訓練／測試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seed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1007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，前後各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64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次凍結互動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平台／總耗時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Apple M1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GiB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CPU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單執行緒／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10:05:39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26,880 次訓練互動，26,599 次新評估，281 次快取">
            <a:extLst xmlns:a="http://schemas.openxmlformats.org/drawingml/2006/main">
              <a:ext uri="{FF2B5EF4-FFF2-40B4-BE49-F238E27FC236}">
                <a16:creationId xmlns:a16="http://schemas.microsoft.com/office/drawing/2014/main" id="{3394D245-B3B5-4272-828A-5344FB8D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26,880 </a:t>
            </a:r>
            <a:r>
              <a:rPr b="0">
                <a:latin typeface="DFKai-SB"/>
                <a:ea typeface="DFKai-SB"/>
                <a:cs typeface="DFKai-SB"/>
              </a:rPr>
              <a:t>次訓練互動，</a:t>
            </a:r>
            <a:r>
              <a:rPr>
                <a:latin typeface="Times New Roman"/>
                <a:ea typeface="Times New Roman"/>
                <a:cs typeface="Times New Roman"/>
              </a:rPr>
              <a:t>26,599 </a:t>
            </a:r>
            <a:r>
              <a:rPr b="0">
                <a:latin typeface="DFKai-SB"/>
                <a:ea typeface="DFKai-SB"/>
                <a:cs typeface="DFKai-SB"/>
              </a:rPr>
              <a:t>次新評估，</a:t>
            </a:r>
            <a:r>
              <a:rPr>
                <a:latin typeface="Times New Roman"/>
                <a:ea typeface="Times New Roman"/>
                <a:cs typeface="Times New Roman"/>
              </a:rPr>
              <a:t>281 </a:t>
            </a:r>
            <a:r>
              <a:rPr b="0">
                <a:latin typeface="DFKai-SB"/>
                <a:ea typeface="DFKai-SB"/>
                <a:cs typeface="DFKai-SB"/>
              </a:rPr>
              <a:t>次快取</a:t>
            </a:r>
          </a:p>
        </p:txBody>
      </p:sp>
    </p:spTree>
    <p:extLst>
      <p:ext uri="{BB962C8B-B14F-4D97-AF65-F5344CB8AC3E}">
        <p14:creationId xmlns:p14="http://schemas.microsoft.com/office/powerpoint/2010/main" val="1182695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CA8123-E94A-4B55-9780-0E9CE2BB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七模型基準：全部超過延遲上限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35D0F203-EFE4-4DCB-B50A-C5F0C6C7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F4F62-5504-41F2-AA90-0A069BA49B90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1285875"/>
                <a:gridCol w="2095500"/>
                <a:gridCol w="2762250"/>
                <a:gridCol w="2286000"/>
              </a:tblGrid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模型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顆數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功耗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mW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延遲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ms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面積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mm²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ResNet18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13.302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452.72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ResNet34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13.021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873.70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ResNet50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11.474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1092.34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VGG16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7.913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4368.22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VGG19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7.694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5098.42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MobileNetV2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6.547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191.94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51435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AlexNet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9.194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1362.62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原限制：1,000 mW、100 ms、16 mm²">
            <a:extLst xmlns:a="http://schemas.openxmlformats.org/drawingml/2006/main">
              <a:ext uri="{FF2B5EF4-FFF2-40B4-BE49-F238E27FC236}">
                <a16:creationId xmlns:a16="http://schemas.microsoft.com/office/drawing/2014/main" id="{3F073398-4493-4658-8A97-C79E299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原限制：</a:t>
            </a:r>
            <a:r>
              <a:rPr>
                <a:latin typeface="Times New Roman"/>
                <a:ea typeface="Times New Roman"/>
                <a:cs typeface="Times New Roman"/>
              </a:rPr>
              <a:t>1,000 mW</a:t>
            </a:r>
            <a:r>
              <a:rPr b="0">
                <a:latin typeface="DFKai-SB"/>
                <a:ea typeface="DFKai-SB"/>
                <a:cs typeface="DFKai-SB"/>
              </a:rPr>
              <a:t>、</a:t>
            </a:r>
            <a:r>
              <a:rPr>
                <a:latin typeface="Times New Roman"/>
                <a:ea typeface="Times New Roman"/>
                <a:cs typeface="Times New Roman"/>
              </a:rPr>
              <a:t>100 ms</a:t>
            </a:r>
            <a:r>
              <a:rPr b="0">
                <a:latin typeface="DFKai-SB"/>
                <a:ea typeface="DFKai-SB"/>
                <a:cs typeface="DFKai-SB"/>
              </a:rPr>
              <a:t>、</a:t>
            </a:r>
            <a:r>
              <a:rPr>
                <a:latin typeface="Times New Roman"/>
                <a:ea typeface="Times New Roman"/>
                <a:cs typeface="Times New Roman"/>
              </a:rPr>
              <a:t>16 mm²</a:t>
            </a:r>
          </a:p>
        </p:txBody>
      </p:sp>
    </p:spTree>
    <p:extLst>
      <p:ext uri="{BB962C8B-B14F-4D97-AF65-F5344CB8AC3E}">
        <p14:creationId xmlns:p14="http://schemas.microsoft.com/office/powerpoint/2010/main" val="1289856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7A4577-06D1-4A3E-B7DB-C8B2C825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凍結策略前後測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3505514A-5935-44CC-AA55-A738202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3" name="前後各 64 次互動的最佳 J，正值表示改善">
            <a:extLst xmlns:a="http://schemas.openxmlformats.org/drawingml/2006/main">
              <a:ext uri="{FF2B5EF4-FFF2-40B4-BE49-F238E27FC236}">
                <a16:creationId xmlns:a16="http://schemas.microsoft.com/office/drawing/2014/main" id="{87439CE5-F398-4406-BD44-1F1C77BC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71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前後各</a:t>
            </a:r>
            <a:r>
              <a:rPr>
                <a:latin typeface="Times New Roman"/>
                <a:ea typeface="Times New Roman"/>
                <a:cs typeface="Times New Roman"/>
              </a:rPr>
              <a:t> 64 </a:t>
            </a:r>
            <a:r>
              <a:rPr b="0">
                <a:latin typeface="DFKai-SB"/>
                <a:ea typeface="DFKai-SB"/>
                <a:cs typeface="DFKai-SB"/>
              </a:rPr>
              <a:t>次互動的最佳</a:t>
            </a:r>
            <a:r>
              <a:rPr>
                <a:latin typeface="Times New Roman"/>
                <a:ea typeface="Times New Roman"/>
                <a:cs typeface="Times New Roman"/>
              </a:rPr>
              <a:t> J</a:t>
            </a:r>
            <a:r>
              <a:rPr b="0">
                <a:latin typeface="DFKai-SB"/>
                <a:ea typeface="DFKai-SB"/>
                <a:cs typeface="DFKai-SB"/>
              </a:rPr>
              <a:t>，正值表示改善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9CECE67-D81C-44C0-8620-45AE3117077F}"/>
              </a:ext>
            </a:extLst>
          </p:cNvPr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8001000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6d22f001ee448b"/>
          </a:graphicData>
        </a:graphic>
      </p:graphicFrame>
      <p:sp>
        <p:nvSpPr>
          <p:cNvPr id="5" name="1 改善&#10;3 持平&#10;3 退步">
            <a:extLst xmlns:a="http://schemas.openxmlformats.org/drawingml/2006/main">
              <a:ext uri="{FF2B5EF4-FFF2-40B4-BE49-F238E27FC236}">
                <a16:creationId xmlns:a16="http://schemas.microsoft.com/office/drawing/2014/main" id="{44919D30-1B70-44AE-9E1D-CCD3C5EA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28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 </a:t>
            </a:r>
            <a:r>
              <a:rPr b="0">
                <a:latin typeface="DFKai-SB"/>
                <a:ea typeface="DFKai-SB"/>
                <a:cs typeface="DFKai-SB"/>
              </a:rPr>
              <a:t>改善</a:t>
            </a:r>
          </a:p>
          <a:p xmlns:a="http://schemas.openxmlformats.org/drawingml/2006/main">
            <a:pPr algn="l">
              <a:defRPr sz="29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 </a:t>
            </a:r>
            <a:r>
              <a:rPr b="0">
                <a:latin typeface="DFKai-SB"/>
                <a:ea typeface="DFKai-SB"/>
                <a:cs typeface="DFKai-SB"/>
              </a:rPr>
              <a:t>持平</a:t>
            </a:r>
          </a:p>
          <a:p xmlns:a="http://schemas.openxmlformats.org/drawingml/2006/main">
            <a:pPr algn="l">
              <a:defRPr sz="29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 </a:t>
            </a:r>
            <a:r>
              <a:rPr b="0">
                <a:latin typeface="DFKai-SB"/>
                <a:ea typeface="DFKai-SB"/>
                <a:cs typeface="DFKai-SB"/>
              </a:rPr>
              <a:t>退步</a:t>
            </a:r>
          </a:p>
        </p:txBody>
      </p:sp>
      <p:sp>
        <p:nvSpPr>
          <p:cNvPr id="6" name="單一 training seed 與單一 evaluation see">
            <a:extLst xmlns:a="http://schemas.openxmlformats.org/drawingml/2006/main">
              <a:ext uri="{FF2B5EF4-FFF2-40B4-BE49-F238E27FC236}">
                <a16:creationId xmlns:a16="http://schemas.microsoft.com/office/drawing/2014/main" id="{7AF260E4-B529-4E30-9C61-71EDA5DF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單一</a:t>
            </a:r>
            <a:r>
              <a:rPr>
                <a:latin typeface="Times New Roman"/>
                <a:ea typeface="Times New Roman"/>
                <a:cs typeface="Times New Roman"/>
              </a:rPr>
              <a:t> training seed </a:t>
            </a:r>
            <a:r>
              <a:rPr b="0">
                <a:latin typeface="DFKai-SB"/>
                <a:ea typeface="DFKai-SB"/>
                <a:cs typeface="DFKai-SB"/>
              </a:rPr>
              <a:t>與單一</a:t>
            </a:r>
            <a:r>
              <a:rPr>
                <a:latin typeface="Times New Roman"/>
                <a:ea typeface="Times New Roman"/>
                <a:cs typeface="Times New Roman"/>
              </a:rPr>
              <a:t> evaluation seed</a:t>
            </a:r>
            <a:r>
              <a:rPr b="0">
                <a:latin typeface="DFKai-SB"/>
                <a:ea typeface="DFKai-SB"/>
                <a:cs typeface="DFKai-SB"/>
              </a:rPr>
              <a:t>，尚未建立穩定學習證據</a:t>
            </a:r>
          </a:p>
        </p:txBody>
      </p:sp>
    </p:spTree>
    <p:extLst>
      <p:ext uri="{BB962C8B-B14F-4D97-AF65-F5344CB8AC3E}">
        <p14:creationId xmlns:p14="http://schemas.microsoft.com/office/powerpoint/2010/main" val="198335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2D3BE3-09F6-488A-8259-C9763C29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Reward </a:t>
            </a:r>
            <a:r>
              <a:rPr b="0">
                <a:latin typeface="DFKai-SB"/>
                <a:ea typeface="DFKai-SB"/>
                <a:cs typeface="DFKai-SB"/>
              </a:rPr>
              <a:t>訊號診斷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9AC673AF-12FC-46E8-AF36-8C1C841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3" name="92.6%">
            <a:extLst xmlns:a="http://schemas.openxmlformats.org/drawingml/2006/main">
              <a:ext uri="{FF2B5EF4-FFF2-40B4-BE49-F238E27FC236}">
                <a16:creationId xmlns:a16="http://schemas.microsoft.com/office/drawing/2014/main" id="{B5D89DA1-E9E8-4D0B-B1CD-221AA8C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90700"/>
            <a:ext cx="4762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6150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92.6%</a:t>
            </a:r>
          </a:p>
        </p:txBody>
      </p:sp>
      <p:sp>
        <p:nvSpPr>
          <p:cNvPr id="4" name="零或極小 reward 的訓練步驟">
            <a:extLst xmlns:a="http://schemas.openxmlformats.org/drawingml/2006/main">
              <a:ext uri="{FF2B5EF4-FFF2-40B4-BE49-F238E27FC236}">
                <a16:creationId xmlns:a16="http://schemas.microsoft.com/office/drawing/2014/main" id="{DBB76B12-7880-4559-87A1-F0861E84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零或極小</a:t>
            </a:r>
            <a:r>
              <a:rPr>
                <a:latin typeface="Times New Roman"/>
                <a:ea typeface="Times New Roman"/>
                <a:cs typeface="Times New Roman"/>
              </a:rPr>
              <a:t> reward </a:t>
            </a:r>
            <a:r>
              <a:rPr b="0">
                <a:latin typeface="DFKai-SB"/>
                <a:ea typeface="DFKai-SB"/>
                <a:cs typeface="DFKai-SB"/>
              </a:rPr>
              <a:t>的訓練步驟</a:t>
            </a:r>
          </a:p>
        </p:txBody>
      </p:sp>
      <p:sp>
        <p:nvSpPr>
          <p:cNvPr id="5" name="89.8%">
            <a:extLst xmlns:a="http://schemas.openxmlformats.org/drawingml/2006/main">
              <a:ext uri="{FF2B5EF4-FFF2-40B4-BE49-F238E27FC236}">
                <a16:creationId xmlns:a16="http://schemas.microsoft.com/office/drawing/2014/main" id="{E9C27062-6627-4759-A1A4-0EFF53FA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790700"/>
            <a:ext cx="4762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0">
                <a:solidFill>
                  <a:srgbClr val="296B97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6150" b="0">
                <a:solidFill>
                  <a:srgbClr val="296B97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89.8%</a:t>
            </a:r>
          </a:p>
        </p:txBody>
      </p:sp>
      <p:sp>
        <p:nvSpPr>
          <p:cNvPr id="6" name="首步占回合 return 的平均比例">
            <a:extLst xmlns:a="http://schemas.openxmlformats.org/drawingml/2006/main">
              <a:ext uri="{FF2B5EF4-FFF2-40B4-BE49-F238E27FC236}">
                <a16:creationId xmlns:a16="http://schemas.microsoft.com/office/drawing/2014/main" id="{8D519CDC-0822-4438-93E0-8DFB5D5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首步占回合</a:t>
            </a:r>
            <a:r>
              <a:rPr>
                <a:latin typeface="Times New Roman"/>
                <a:ea typeface="Times New Roman"/>
                <a:cs typeface="Times New Roman"/>
              </a:rPr>
              <a:t> return </a:t>
            </a:r>
            <a:r>
              <a:rPr b="0">
                <a:latin typeface="DFKai-SB"/>
                <a:ea typeface="DFKai-SB"/>
                <a:cs typeface="DFKai-SB"/>
              </a:rPr>
              <a:t>的平均比例</a:t>
            </a:r>
          </a:p>
        </p:txBody>
      </p:sp>
      <p:sp>
        <p:nvSpPr>
          <p:cNvPr id="7" name="只刷新歷史最佳才得到正回報，許多當前改善仍為零">
            <a:extLst xmlns:a="http://schemas.openxmlformats.org/drawingml/2006/main">
              <a:ext uri="{FF2B5EF4-FFF2-40B4-BE49-F238E27FC236}">
                <a16:creationId xmlns:a16="http://schemas.microsoft.com/office/drawing/2014/main" id="{D5CD044D-231B-45AB-9F20-8CDFB19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只刷新歷史最佳才得到正回報，許多當前改善仍為零</a:t>
            </a:r>
          </a:p>
        </p:txBody>
      </p:sp>
      <p:sp>
        <p:nvSpPr>
          <p:cNvPr id="8" name="Return = −ln(best J)，與最佳 J 表達同一個搜尋結">
            <a:extLst xmlns:a="http://schemas.openxmlformats.org/drawingml/2006/main">
              <a:ext uri="{FF2B5EF4-FFF2-40B4-BE49-F238E27FC236}">
                <a16:creationId xmlns:a16="http://schemas.microsoft.com/office/drawing/2014/main" id="{A2703088-CF05-41BF-9FDA-D5C1A493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Return = −ln(best J)</a:t>
            </a:r>
            <a:r>
              <a:rPr b="0">
                <a:latin typeface="DFKai-SB"/>
                <a:ea typeface="DFKai-SB"/>
                <a:cs typeface="DFKai-SB"/>
              </a:rPr>
              <a:t>，與最佳</a:t>
            </a:r>
            <a:r>
              <a:rPr>
                <a:latin typeface="Times New Roman"/>
                <a:ea typeface="Times New Roman"/>
                <a:cs typeface="Times New Roman"/>
              </a:rPr>
              <a:t> J </a:t>
            </a:r>
            <a:r>
              <a:rPr b="0">
                <a:latin typeface="DFKai-SB"/>
                <a:ea typeface="DFKai-SB"/>
                <a:cs typeface="DFKai-SB"/>
              </a:rPr>
              <a:t>表達同一個搜尋結果</a:t>
            </a:r>
          </a:p>
        </p:txBody>
      </p:sp>
    </p:spTree>
    <p:extLst>
      <p:ext uri="{BB962C8B-B14F-4D97-AF65-F5344CB8AC3E}">
        <p14:creationId xmlns:p14="http://schemas.microsoft.com/office/powerpoint/2010/main" val="6178372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3FAB2C-14EE-4031-8B71-DADDD83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搜尋時間的主要成本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0E7A71EA-1150-4B45-BB58-6AB9DC61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FB311E8-F94B-451D-966C-C6AB9271EEF4}"/>
              </a:ext>
            </a:extLst>
          </p:cNvPr>
          <p:cNvGraphicFramePr/>
          <p:nvPr/>
        </p:nvGraphicFramePr>
        <p:xfrm>
          <a:off xmlns:a="http://schemas.openxmlformats.org/drawingml/2006/main" x="685800" y="1495425"/>
          <a:ext xmlns:a="http://schemas.openxmlformats.org/drawingml/2006/main" cx="1066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d31cdc3ab94a4a"/>
          </a:graphicData>
        </a:graphic>
      </p:graphicFrame>
      <p:sp>
        <p:nvSpPr>
          <p:cNvPr id="4" name="三項訓練內部計時，未含完整模型載入、前後測與輸出">
            <a:extLst xmlns:a="http://schemas.openxmlformats.org/drawingml/2006/main">
              <a:ext uri="{FF2B5EF4-FFF2-40B4-BE49-F238E27FC236}">
                <a16:creationId xmlns:a16="http://schemas.microsoft.com/office/drawing/2014/main" id="{C43AC4D4-4116-43F9-B6B2-9A0DEB14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三項訓練內部計時，未含完整模型載入、前後測與輸出</a:t>
            </a:r>
          </a:p>
        </p:txBody>
      </p:sp>
      <p:sp>
        <p:nvSpPr>
          <p:cNvPr id="5" name="下一步先剖析環境與更新成本，再評估擴充 224×224">
            <a:extLst xmlns:a="http://schemas.openxmlformats.org/drawingml/2006/main">
              <a:ext uri="{FF2B5EF4-FFF2-40B4-BE49-F238E27FC236}">
                <a16:creationId xmlns:a16="http://schemas.microsoft.com/office/drawing/2014/main" id="{2CCA5015-40AE-4F04-AAC3-7EFFAD1C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055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下一步先剖析環境與更新成本，再評估擴充</a:t>
            </a:r>
            <a:r>
              <a:rPr>
                <a:latin typeface="Times New Roman"/>
                <a:ea typeface="Times New Roman"/>
                <a:cs typeface="Times New Roman"/>
              </a:rPr>
              <a:t> 224×224</a:t>
            </a:r>
          </a:p>
        </p:txBody>
      </p:sp>
    </p:spTree>
    <p:extLst>
      <p:ext uri="{BB962C8B-B14F-4D97-AF65-F5344CB8AC3E}">
        <p14:creationId xmlns:p14="http://schemas.microsoft.com/office/powerpoint/2010/main" val="28895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977AB7-44CC-4428-8BF0-450B690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原</a:t>
            </a:r>
            <a:r>
              <a:rPr>
                <a:latin typeface="Times New Roman"/>
                <a:ea typeface="Times New Roman"/>
                <a:cs typeface="Times New Roman"/>
              </a:rPr>
              <a:t> 100 ms </a:t>
            </a:r>
            <a:r>
              <a:rPr b="0">
                <a:latin typeface="DFKai-SB"/>
                <a:ea typeface="DFKai-SB"/>
                <a:cs typeface="DFKai-SB"/>
              </a:rPr>
              <a:t>限制的可行性問題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D4FB860-E30A-4257-8799-85814B3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3" name="必要參數讀取下界 = 參數 bytes／兩埠合計 2 GB/s">
            <a:extLst xmlns:a="http://schemas.openxmlformats.org/drawingml/2006/main">
              <a:ext uri="{FF2B5EF4-FFF2-40B4-BE49-F238E27FC236}">
                <a16:creationId xmlns:a16="http://schemas.microsoft.com/office/drawing/2014/main" id="{D22C95B6-139E-44C6-AA5E-090F2416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716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必要參數讀取下界</a:t>
            </a:r>
            <a:r>
              <a:rPr>
                <a:latin typeface="Times New Roman"/>
                <a:ea typeface="Times New Roman"/>
                <a:cs typeface="Times New Roman"/>
              </a:rPr>
              <a:t> = </a:t>
            </a:r>
            <a:r>
              <a:rPr b="0">
                <a:latin typeface="DFKai-SB"/>
                <a:ea typeface="DFKai-SB"/>
                <a:cs typeface="DFKai-SB"/>
              </a:rPr>
              <a:t>參數</a:t>
            </a:r>
            <a:r>
              <a:rPr>
                <a:latin typeface="Times New Roman"/>
                <a:ea typeface="Times New Roman"/>
                <a:cs typeface="Times New Roman"/>
              </a:rPr>
              <a:t> bytes</a:t>
            </a:r>
            <a:r>
              <a:rPr b="0">
                <a:latin typeface="DFKai-SB"/>
                <a:ea typeface="DFKai-SB"/>
                <a:cs typeface="DFKai-SB"/>
              </a:rPr>
              <a:t>／兩埠合計</a:t>
            </a:r>
            <a:r>
              <a:rPr>
                <a:latin typeface="Times New Roman"/>
                <a:ea typeface="Times New Roman"/>
                <a:cs typeface="Times New Roman"/>
              </a:rPr>
              <a:t> 2 GB/s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AFF48-FCEC-4F4F-95F9-33176165CB09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762250"/>
                <a:gridCol w="4905375"/>
              </a:tblGrid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模型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下界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ms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是否排除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100 ms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ResNet18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46.80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此下界未排除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ResNet34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87.26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此下界未排除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ResNet50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102.44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AD632F"/>
                          </a:solidFill>
                          <a:latin typeface="DFKai-SB"/>
                          <a:ea typeface="DFKai-SB"/>
                          <a:cs typeface="DFKai-SB"/>
                        </a:rPr>
                        <a:t>已證明不可能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VGG16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553.43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AD632F"/>
                          </a:solidFill>
                          <a:latin typeface="DFKai-SB"/>
                          <a:ea typeface="DFKai-SB"/>
                          <a:cs typeface="DFKai-SB"/>
                        </a:rPr>
                        <a:t>已證明不可能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VGG19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574.67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AD632F"/>
                          </a:solidFill>
                          <a:latin typeface="DFKai-SB"/>
                          <a:ea typeface="DFKai-SB"/>
                          <a:cs typeface="DFKai-SB"/>
                        </a:rPr>
                        <a:t>已證明不可能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MobileNetV2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此下界未排除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464344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AlexNet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244.40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AD632F"/>
                          </a:solidFill>
                          <a:latin typeface="DFKai-SB"/>
                          <a:ea typeface="DFKai-SB"/>
                          <a:cs typeface="DFKai-SB"/>
                        </a:rPr>
                        <a:t>已證明不可能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通過必要下界檢查仍不代表存在可行解">
            <a:extLst xmlns:a="http://schemas.openxmlformats.org/drawingml/2006/main">
              <a:ext uri="{FF2B5EF4-FFF2-40B4-BE49-F238E27FC236}">
                <a16:creationId xmlns:a16="http://schemas.microsoft.com/office/drawing/2014/main" id="{9BFAA4FB-B418-467A-A86C-DCF810FA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293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通過必要下界檢查仍不代表存在可行解</a:t>
            </a:r>
          </a:p>
        </p:txBody>
      </p:sp>
    </p:spTree>
    <p:extLst>
      <p:ext uri="{BB962C8B-B14F-4D97-AF65-F5344CB8AC3E}">
        <p14:creationId xmlns:p14="http://schemas.microsoft.com/office/powerpoint/2010/main" val="12488240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F576B3-B4E2-491C-B22D-C6BB7A3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新版模型別實驗限制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37612950-8A02-454D-BE00-94816518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B5A1C-B6F6-4DAC-AE30-C76C52EAB448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524125"/>
                <a:gridCol w="2619375"/>
                <a:gridCol w="2667000"/>
              </a:tblGrid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模型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功耗上限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mW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延遲上限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ms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面積上限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mm²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ResNet18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550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ResNet34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1050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ResNet50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1320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VGG16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5250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VGG19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6120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MobileNetV2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488156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AlexNet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1640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依先導結果設定，七模型均有可行設計，PPA 係數仍未校準">
            <a:extLst xmlns:a="http://schemas.openxmlformats.org/drawingml/2006/main">
              <a:ext uri="{FF2B5EF4-FFF2-40B4-BE49-F238E27FC236}">
                <a16:creationId xmlns:a16="http://schemas.microsoft.com/office/drawing/2014/main" id="{67156129-FE25-409F-80BE-91622FE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5310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依先導結果設定，七模型均有可行設計，</a:t>
            </a:r>
            <a:r>
              <a:rPr>
                <a:latin typeface="Times New Roman"/>
                <a:ea typeface="Times New Roman"/>
                <a:cs typeface="Times New Roman"/>
              </a:rPr>
              <a:t>PPA </a:t>
            </a:r>
            <a:r>
              <a:rPr b="0">
                <a:latin typeface="DFKai-SB"/>
                <a:ea typeface="DFKai-SB"/>
                <a:cs typeface="DFKai-SB"/>
              </a:rPr>
              <a:t>係數仍未校準</a:t>
            </a:r>
          </a:p>
        </p:txBody>
      </p:sp>
      <p:sp>
        <p:nvSpPr>
          <p:cNvPr id="5" name="新版訓練執行中，2026-10-14 12:49 截點已完成 1／7 ">
            <a:extLst xmlns:a="http://schemas.openxmlformats.org/drawingml/2006/main">
              <a:ext uri="{FF2B5EF4-FFF2-40B4-BE49-F238E27FC236}">
                <a16:creationId xmlns:a16="http://schemas.microsoft.com/office/drawing/2014/main" id="{DCB3042D-B046-4518-AA28-A539B2E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817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新版訓練執行中，</a:t>
            </a:r>
            <a:r>
              <a:rPr>
                <a:latin typeface="Times New Roman"/>
                <a:ea typeface="Times New Roman"/>
                <a:cs typeface="Times New Roman"/>
              </a:rPr>
              <a:t>2026-10-14 12:49 </a:t>
            </a:r>
            <a:r>
              <a:rPr b="0">
                <a:latin typeface="DFKai-SB"/>
                <a:ea typeface="DFKai-SB"/>
                <a:cs typeface="DFKai-SB"/>
              </a:rPr>
              <a:t>截點已完成</a:t>
            </a:r>
            <a:r>
              <a:rPr>
                <a:latin typeface="Times New Roman"/>
                <a:ea typeface="Times New Roman"/>
                <a:cs typeface="Times New Roman"/>
              </a:rPr>
              <a:t> 1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7 </a:t>
            </a:r>
            <a:r>
              <a:rPr b="0">
                <a:latin typeface="DFKai-SB"/>
                <a:ea typeface="DFKai-SB"/>
                <a:cs typeface="DFKai-SB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7527428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8BD4C3-7C60-4697-BC54-F61CB934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新版評估方式與執行工具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C826F56D-22B2-499C-8DB8-3242E040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8CEEF-C324-4518-A76F-6DF10A104ED0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143875"/>
              </a:tblGrid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項目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新版預設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正式訓練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每模型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60×64 = 3,840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次互動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凍結前後測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前後各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10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個測試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seeds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，每個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64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次互動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總預算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七模型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35,840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次互動，比舊版增加約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29%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選用比較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與中途測試，預設關閉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622300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執行與紀錄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網頁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GUI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／循序終端批次，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SQLite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PPA 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報告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測試 seeds 描述同一個 policy 的變異，仍需獨立 trai">
            <a:extLst xmlns:a="http://schemas.openxmlformats.org/drawingml/2006/main">
              <a:ext uri="{FF2B5EF4-FFF2-40B4-BE49-F238E27FC236}">
                <a16:creationId xmlns:a16="http://schemas.microsoft.com/office/drawing/2014/main" id="{73302718-4011-4B91-B411-4AEBF883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測試</a:t>
            </a:r>
            <a:r>
              <a:rPr>
                <a:latin typeface="Times New Roman"/>
                <a:ea typeface="Times New Roman"/>
                <a:cs typeface="Times New Roman"/>
              </a:rPr>
              <a:t> seeds </a:t>
            </a:r>
            <a:r>
              <a:rPr b="0">
                <a:latin typeface="DFKai-SB"/>
                <a:ea typeface="DFKai-SB"/>
                <a:cs typeface="DFKai-SB"/>
              </a:rPr>
              <a:t>描述同一個</a:t>
            </a:r>
            <a:r>
              <a:rPr>
                <a:latin typeface="Times New Roman"/>
                <a:ea typeface="Times New Roman"/>
                <a:cs typeface="Times New Roman"/>
              </a:rPr>
              <a:t> policy </a:t>
            </a:r>
            <a:r>
              <a:rPr b="0">
                <a:latin typeface="DFKai-SB"/>
                <a:ea typeface="DFKai-SB"/>
                <a:cs typeface="DFKai-SB"/>
              </a:rPr>
              <a:t>的變異，仍需獨立</a:t>
            </a:r>
            <a:r>
              <a:rPr>
                <a:latin typeface="Times New Roman"/>
                <a:ea typeface="Times New Roman"/>
                <a:cs typeface="Times New Roman"/>
              </a:rPr>
              <a:t> training seeds</a:t>
            </a:r>
          </a:p>
        </p:txBody>
      </p:sp>
    </p:spTree>
    <p:extLst>
      <p:ext uri="{BB962C8B-B14F-4D97-AF65-F5344CB8AC3E}">
        <p14:creationId xmlns:p14="http://schemas.microsoft.com/office/powerpoint/2010/main" val="967144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8CACE4-A52B-453A-8ABC-A1D0E48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下一階段研究與討論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100BB3CA-A8D1-4113-9189-FA79AE7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3A7B1-2342-4F54-8C0C-DC202D8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5727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硬體：確認運算格式、</a:t>
            </a:r>
            <a:r>
              <a:rPr>
                <a:latin typeface="Times New Roman"/>
                <a:ea typeface="Times New Roman"/>
                <a:cs typeface="Times New Roman"/>
              </a:rPr>
              <a:t>SRAM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NoC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DRAM </a:t>
            </a:r>
            <a:r>
              <a:rPr b="0">
                <a:latin typeface="DFKai-SB"/>
                <a:ea typeface="DFKai-SB"/>
                <a:cs typeface="DFKai-SB"/>
              </a:rPr>
              <a:t>模型與校準方式</a:t>
            </a:r>
          </a:p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速度：剖析環境評估與策略更新，驗證加速前後語意一致</a:t>
            </a:r>
          </a:p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空間：補足</a:t>
            </a:r>
            <a:r>
              <a:rPr>
                <a:latin typeface="Times New Roman"/>
                <a:ea typeface="Times New Roman"/>
                <a:cs typeface="Times New Roman"/>
              </a:rPr>
              <a:t> W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C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reduction </a:t>
            </a:r>
            <a:r>
              <a:rPr b="0">
                <a:latin typeface="DFKai-SB"/>
                <a:ea typeface="DFKai-SB"/>
                <a:cs typeface="DFKai-SB"/>
              </a:rPr>
              <a:t>與重用，也補足</a:t>
            </a:r>
            <a:r>
              <a:rPr>
                <a:latin typeface="Times New Roman"/>
                <a:ea typeface="Times New Roman"/>
                <a:cs typeface="Times New Roman"/>
              </a:rPr>
              <a:t> observation </a:t>
            </a:r>
            <a:r>
              <a:rPr b="0">
                <a:latin typeface="DFKai-SB"/>
                <a:ea typeface="DFKai-SB"/>
                <a:cs typeface="DFKai-SB"/>
              </a:rPr>
              <a:t>表示</a:t>
            </a:r>
          </a:p>
          <a:p xmlns:a="http://schemas.openxmlformats.org/drawingml/2006/main">
            <a:pPr marL="254000" indent="-127000" algn="l">
              <a:spcAft>
                <a:spcPts val="2000"/>
              </a:spcAft>
              <a:buChar char="•"/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證據：等預算</a:t>
            </a:r>
            <a:r>
              <a:rPr>
                <a:latin typeface="Times New Roman"/>
                <a:ea typeface="Times New Roman"/>
                <a:cs typeface="Times New Roman"/>
              </a:rPr>
              <a:t> random</a:t>
            </a:r>
            <a:r>
              <a:rPr b="0">
                <a:latin typeface="DFKai-SB"/>
                <a:ea typeface="DFKai-SB"/>
                <a:cs typeface="DFKai-SB"/>
              </a:rPr>
              <a:t>／</a:t>
            </a:r>
            <a:r>
              <a:rPr>
                <a:latin typeface="Times New Roman"/>
                <a:ea typeface="Times New Roman"/>
                <a:cs typeface="Times New Roman"/>
              </a:rPr>
              <a:t>SA</a:t>
            </a:r>
            <a:r>
              <a:rPr b="0">
                <a:latin typeface="DFKai-SB"/>
                <a:ea typeface="DFKai-SB"/>
                <a:cs typeface="DFKai-SB"/>
              </a:rPr>
              <a:t>、</a:t>
            </a:r>
            <a:r>
              <a:rPr>
                <a:latin typeface="Times New Roman"/>
                <a:ea typeface="Times New Roman"/>
                <a:cs typeface="Times New Roman"/>
              </a:rPr>
              <a:t>5 </a:t>
            </a:r>
            <a:r>
              <a:rPr b="0">
                <a:latin typeface="DFKai-SB"/>
                <a:ea typeface="DFKai-SB"/>
                <a:cs typeface="DFKai-SB"/>
              </a:rPr>
              <a:t>個</a:t>
            </a:r>
            <a:r>
              <a:rPr>
                <a:latin typeface="Times New Roman"/>
                <a:ea typeface="Times New Roman"/>
                <a:cs typeface="Times New Roman"/>
              </a:rPr>
              <a:t> training seeds</a:t>
            </a:r>
            <a:r>
              <a:rPr b="0">
                <a:latin typeface="DFKai-SB"/>
                <a:ea typeface="DFKai-SB"/>
                <a:cs typeface="DFKai-SB"/>
              </a:rPr>
              <a:t>、</a:t>
            </a:r>
            <a:r>
              <a:rPr>
                <a:latin typeface="Times New Roman"/>
                <a:ea typeface="Times New Roman"/>
                <a:cs typeface="Times New Roman"/>
              </a:rPr>
              <a:t>10 </a:t>
            </a:r>
            <a:r>
              <a:rPr b="0">
                <a:latin typeface="DFKai-SB"/>
                <a:ea typeface="DFKai-SB"/>
                <a:cs typeface="DFKai-SB"/>
              </a:rPr>
              <a:t>個測試</a:t>
            </a:r>
            <a:r>
              <a:rPr>
                <a:latin typeface="Times New Roman"/>
                <a:ea typeface="Times New Roman"/>
                <a:cs typeface="Times New Roman"/>
              </a:rPr>
              <a:t> seeds</a:t>
            </a:r>
          </a:p>
        </p:txBody>
      </p:sp>
      <p:sp>
        <p:nvSpPr>
          <p:cNvPr id="4" name="希望教授確認：建模層級、探索優先順序與可接受的實驗預算">
            <a:extLst xmlns:a="http://schemas.openxmlformats.org/drawingml/2006/main">
              <a:ext uri="{FF2B5EF4-FFF2-40B4-BE49-F238E27FC236}">
                <a16:creationId xmlns:a16="http://schemas.microsoft.com/office/drawing/2014/main" id="{66AC6DE8-E9E9-41F6-8249-22AC26D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43575"/>
            <a:ext cx="1057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希望教授確認：建模層級、探索優先順序與可接受的實驗預算</a:t>
            </a:r>
          </a:p>
        </p:txBody>
      </p:sp>
    </p:spTree>
    <p:extLst>
      <p:ext uri="{BB962C8B-B14F-4D97-AF65-F5344CB8AC3E}">
        <p14:creationId xmlns:p14="http://schemas.microsoft.com/office/powerpoint/2010/main" val="4911898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8089F6-0CCF-4380-8AF5-91245A6A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附錄</a:t>
            </a:r>
            <a:r>
              <a:rPr>
                <a:latin typeface="Times New Roman"/>
                <a:ea typeface="Times New Roman"/>
                <a:cs typeface="Times New Roman"/>
              </a:rPr>
              <a:t> A</a:t>
            </a:r>
            <a:r>
              <a:rPr b="0">
                <a:latin typeface="DFKai-SB"/>
                <a:ea typeface="DFKai-SB"/>
                <a:cs typeface="DFKai-SB"/>
              </a:rPr>
              <a:t>：完整評分與</a:t>
            </a:r>
            <a:r>
              <a:rPr>
                <a:latin typeface="Times New Roman"/>
                <a:ea typeface="Times New Roman"/>
                <a:cs typeface="Times New Roman"/>
              </a:rPr>
              <a:t> REINFORCE </a:t>
            </a:r>
            <a:r>
              <a:rPr b="0">
                <a:latin typeface="DFKai-SB"/>
                <a:ea typeface="DFKai-SB"/>
                <a:cs typeface="DFKai-SB"/>
              </a:rPr>
              <a:t>公式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8259DDD0-79BC-4156-893E-D0D89F78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3" name="C = Σᵢ wᵢ(xᵢ / limitᵢ)，v = Σᵢ max(0">
            <a:extLst xmlns:a="http://schemas.openxmlformats.org/drawingml/2006/main">
              <a:ext uri="{FF2B5EF4-FFF2-40B4-BE49-F238E27FC236}">
                <a16:creationId xmlns:a16="http://schemas.microsoft.com/office/drawing/2014/main" id="{364CA47F-89FF-4B42-846C-911CEB72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144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 = Σᵢ wᵢ(xᵢ / limitᵢ)</a:t>
            </a:r>
            <a:r>
              <a:rPr b="0"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v = Σᵢ max(0, xᵢ / limitᵢ − 1)</a:t>
            </a:r>
          </a:p>
        </p:txBody>
      </p:sp>
      <p:sp>
        <p:nvSpPr>
          <p:cNvPr id="4" name="M = C / (1 + C)                    ">
            <a:extLst xmlns:a="http://schemas.openxmlformats.org/drawingml/2006/main">
              <a:ext uri="{FF2B5EF4-FFF2-40B4-BE49-F238E27FC236}">
                <a16:creationId xmlns:a16="http://schemas.microsoft.com/office/drawing/2014/main" id="{DC7BAE1E-477D-4173-816B-EA1196DF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 = C / (1 + C)                              </a:t>
            </a:r>
            <a:r>
              <a:rPr b="0">
                <a:latin typeface="DFKai-SB"/>
                <a:ea typeface="DFKai-SB"/>
                <a:cs typeface="DFKai-SB"/>
              </a:rPr>
              <a:t>全部達標</a:t>
            </a:r>
          </a:p>
          <a:p xmlns:a="http://schemas.openxmlformats.org/drawingml/2006/main">
            <a:pPr algn="l">
              <a:defRPr sz="2250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 = 2 + v + C / (1 + C)                 </a:t>
            </a:r>
            <a:r>
              <a:rPr b="0">
                <a:latin typeface="DFKai-SB"/>
                <a:ea typeface="DFKai-SB"/>
                <a:cs typeface="DFKai-SB"/>
              </a:rPr>
              <a:t>存在超標</a:t>
            </a:r>
          </a:p>
        </p:txBody>
      </p:sp>
      <p:sp>
        <p:nvSpPr>
          <p:cNvPr id="5" name="J = M / (1 + M)，Bₜ = min(Bₜ₋₁, Jₜ)">
            <a:extLst xmlns:a="http://schemas.openxmlformats.org/drawingml/2006/main">
              <a:ext uri="{FF2B5EF4-FFF2-40B4-BE49-F238E27FC236}">
                <a16:creationId xmlns:a16="http://schemas.microsoft.com/office/drawing/2014/main" id="{C6AD3C88-FEF0-42FB-B636-E4802444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J = M / (1 + M)</a:t>
            </a:r>
            <a:r>
              <a:rPr b="0"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Bₜ = min(Bₜ₋₁, Jₜ)</a:t>
            </a:r>
          </a:p>
        </p:txBody>
      </p:sp>
      <p:sp>
        <p:nvSpPr>
          <p:cNvPr id="6" name="rₜ = ln(Bₜ₋₁ / Bₜ)，Gₜ = Σₖ₌ₜᵀ rₖ">
            <a:extLst xmlns:a="http://schemas.openxmlformats.org/drawingml/2006/main">
              <a:ext uri="{FF2B5EF4-FFF2-40B4-BE49-F238E27FC236}">
                <a16:creationId xmlns:a16="http://schemas.microsoft.com/office/drawing/2014/main" id="{54CFE2A2-34C9-4ED7-BA9B-6BF61F8B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0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rₜ = ln(Bₜ₋₁ / Bₜ)</a:t>
            </a:r>
            <a:r>
              <a:rPr b="0"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Gₜ = Σₖ₌ₜᵀ rₖ</a:t>
            </a:r>
          </a:p>
        </p:txBody>
      </p:sp>
      <p:sp>
        <p:nvSpPr>
          <p:cNvPr id="7" name="Lpolicy = −Σₜ Gₜ ln πθ(aₜ | Oₜ)">
            <a:extLst xmlns:a="http://schemas.openxmlformats.org/drawingml/2006/main">
              <a:ext uri="{FF2B5EF4-FFF2-40B4-BE49-F238E27FC236}">
                <a16:creationId xmlns:a16="http://schemas.microsoft.com/office/drawing/2014/main" id="{42EDD7BB-8900-4E71-8595-D7F7E54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95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Lpolicy = −Σₜ Gₜ ln πθ(aₜ | Oₜ)</a:t>
            </a:r>
          </a:p>
        </p:txBody>
      </p:sp>
      <p:sp>
        <p:nvSpPr>
          <p:cNvPr id="8" name="gamma = 1，Adam lr = 3e−4，gradient n">
            <a:extLst xmlns:a="http://schemas.openxmlformats.org/drawingml/2006/main">
              <a:ext uri="{FF2B5EF4-FFF2-40B4-BE49-F238E27FC236}">
                <a16:creationId xmlns:a16="http://schemas.microsoft.com/office/drawing/2014/main" id="{A9F82D97-ABC2-4868-929B-96D270E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436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gamma = 1</a:t>
            </a:r>
            <a:r>
              <a:rPr b="0"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Adam lr = 3e−4</a:t>
            </a:r>
            <a:r>
              <a:rPr b="0">
                <a:latin typeface="DFKai-SB"/>
                <a:ea typeface="DFKai-SB"/>
                <a:cs typeface="DFKai-SB"/>
              </a:rPr>
              <a:t>，</a:t>
            </a:r>
            <a:r>
              <a:rPr>
                <a:latin typeface="Times New Roman"/>
                <a:ea typeface="Times New Roman"/>
                <a:cs typeface="Times New Roman"/>
              </a:rPr>
              <a:t>gradient norm clip = 0.5</a:t>
            </a:r>
          </a:p>
        </p:txBody>
      </p:sp>
    </p:spTree>
    <p:extLst>
      <p:ext uri="{BB962C8B-B14F-4D97-AF65-F5344CB8AC3E}">
        <p14:creationId xmlns:p14="http://schemas.microsoft.com/office/powerpoint/2010/main" val="1652222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B5AED7-84E2-4A80-9C86-AAAA9275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附錄</a:t>
            </a:r>
            <a:r>
              <a:rPr>
                <a:latin typeface="Times New Roman"/>
                <a:ea typeface="Times New Roman"/>
                <a:cs typeface="Times New Roman"/>
              </a:rPr>
              <a:t> B</a:t>
            </a:r>
            <a:r>
              <a:rPr b="0">
                <a:latin typeface="DFKai-SB"/>
                <a:ea typeface="DFKai-SB"/>
                <a:cs typeface="DFKai-SB"/>
              </a:rPr>
              <a:t>：核心假說的</a:t>
            </a:r>
            <a:r>
              <a:rPr>
                <a:latin typeface="Times New Roman"/>
                <a:ea typeface="Times New Roman"/>
                <a:cs typeface="Times New Roman"/>
              </a:rPr>
              <a:t> Toy pilot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121E699A-03D5-44DF-B06B-7163659A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1E2F8-62C3-4E51-B2FE-D688BDBB6EA9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143500"/>
                <a:gridCol w="2190750"/>
                <a:gridCol w="2190750"/>
              </a:tblGrid>
              <a:tr h="738188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假說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代表比較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平均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ΔJ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</a:rPr>
                        <a:t>勝／平／負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T w="7620">
                      <a:solidFill>
                        <a:srgbClr val="D1DDE1"/>
                      </a:solidFill>
                      <a:prstDash val="solid"/>
                    </a:lnT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173746"/>
                    </a:solidFill>
                  </a:tcPr>
                </a:tc>
              </a:tr>
              <a:tr h="738188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H1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full / compact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+0.025970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H2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coupled / independent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+0.015519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</a:tr>
              <a:tr h="738188">
                <a:tc>
                  <a:txBody>
                    <a:bodyPr lIns="76200" tIns="76200" rIns="762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H3</a:t>
                      </a:r>
                    </a:p>
                  </a:txBody>
                  <a:tcPr marL="95250" marR="95250" marT="76200" marB="76200" anchor="ctr">
                    <a:lnL w="7620">
                      <a:solidFill>
                        <a:srgbClr val="D1DDE1"/>
                      </a:solidFill>
                      <a:prstDash val="solid"/>
                    </a:lnL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potential / terminal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0.000000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DFKai-SB"/>
                          <a:ea typeface="DFKai-SB"/>
                          <a:cs typeface="DFKai-SB"/>
                        </a:rPr>
                        <a:t>／</a:t>
                      </a:r>
                      <a:r>
                        <a:rPr sz="1875" b="0">
                          <a:solidFill>
                            <a:srgbClr val="1737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5250" marR="95250" marT="76200" marB="76200" anchor="ctr">
                    <a:lnR w="7620">
                      <a:solidFill>
                        <a:srgbClr val="D1DDE1"/>
                      </a:solidFill>
                      <a:prstDash val="solid"/>
                    </a:lnR>
                    <a:lnB w="7620">
                      <a:solidFill>
                        <a:srgbClr val="D1DD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ΔJ = left − right，負值偏向 left">
            <a:extLst xmlns:a="http://schemas.openxmlformats.org/drawingml/2006/main">
              <a:ext uri="{FF2B5EF4-FFF2-40B4-BE49-F238E27FC236}">
                <a16:creationId xmlns:a16="http://schemas.microsoft.com/office/drawing/2014/main" id="{BB83F46C-16CB-4DFE-A499-BC2E5718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05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ΔJ = left − right</a:t>
            </a:r>
            <a:r>
              <a:rPr b="0">
                <a:latin typeface="DFKai-SB"/>
                <a:ea typeface="DFKai-SB"/>
                <a:cs typeface="DFKai-SB"/>
              </a:rPr>
              <a:t>，負值偏向</a:t>
            </a:r>
            <a:r>
              <a:rPr>
                <a:latin typeface="Times New Roman"/>
                <a:ea typeface="Times New Roman"/>
                <a:cs typeface="Times New Roman"/>
              </a:rPr>
              <a:t> left</a:t>
            </a:r>
          </a:p>
        </p:txBody>
      </p:sp>
      <p:sp>
        <p:nvSpPr>
          <p:cNvPr id="5" name="三個種子的描述性 pilot 尚未支持核心假說">
            <a:extLst xmlns:a="http://schemas.openxmlformats.org/drawingml/2006/main">
              <a:ext uri="{FF2B5EF4-FFF2-40B4-BE49-F238E27FC236}">
                <a16:creationId xmlns:a16="http://schemas.microsoft.com/office/drawing/2014/main" id="{02A8AB61-FFCF-4B99-9D2C-4D4E35BE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AD632F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三個種子的描述性</a:t>
            </a:r>
            <a:r>
              <a:rPr>
                <a:latin typeface="Times New Roman"/>
                <a:ea typeface="Times New Roman"/>
                <a:cs typeface="Times New Roman"/>
              </a:rPr>
              <a:t> pilot </a:t>
            </a:r>
            <a:r>
              <a:rPr b="0">
                <a:latin typeface="DFKai-SB"/>
                <a:ea typeface="DFKai-SB"/>
                <a:cs typeface="DFKai-SB"/>
              </a:rPr>
              <a:t>尚未支持核心假說</a:t>
            </a:r>
          </a:p>
        </p:txBody>
      </p:sp>
    </p:spTree>
    <p:extLst>
      <p:ext uri="{BB962C8B-B14F-4D97-AF65-F5344CB8AC3E}">
        <p14:creationId xmlns:p14="http://schemas.microsoft.com/office/powerpoint/2010/main" val="10116992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1A64DF-BA16-4B70-9966-38925C05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附錄</a:t>
            </a:r>
            <a:r>
              <a:rPr>
                <a:latin typeface="Times New Roman"/>
                <a:ea typeface="Times New Roman"/>
                <a:cs typeface="Times New Roman"/>
              </a:rPr>
              <a:t> C</a:t>
            </a:r>
            <a:r>
              <a:rPr b="0">
                <a:latin typeface="DFKai-SB"/>
                <a:ea typeface="DFKai-SB"/>
                <a:cs typeface="DFKai-SB"/>
              </a:rPr>
              <a:t>：資料來源與重現入口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B17195AD-33F7-4F47-9725-0FB37D8F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3" name="Williams, R. J. (1992). Simple stat">
            <a:extLst xmlns:a="http://schemas.openxmlformats.org/drawingml/2006/main">
              <a:ext uri="{FF2B5EF4-FFF2-40B4-BE49-F238E27FC236}">
                <a16:creationId xmlns:a16="http://schemas.microsoft.com/office/drawing/2014/main" id="{9855B675-2AFD-4D2B-A7E3-6EEA4D02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1066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Williams, R. J. (1992). Simple statistical gradient-following</a:t>
            </a:r>
          </a:p>
          <a:p xmlns:a="http://schemas.openxmlformats.org/drawingml/2006/main">
            <a:pPr algn="l">
              <a:defRPr sz="18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algorithms for connectionist reinforcement learning.</a:t>
            </a:r>
          </a:p>
          <a:p xmlns:a="http://schemas.openxmlformats.org/drawingml/2006/main">
            <a:pPr algn="l">
              <a:defRPr sz="187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Machine Learning, 8, 229–256. DOI: 10.1007/BF00992696</a:t>
            </a:r>
          </a:p>
        </p:txBody>
      </p:sp>
      <p:sp>
        <p:nvSpPr>
          <p:cNvPr id="4" name="RapidChiplet 官方工具鏈&#10;https://github.c">
            <a:extLst xmlns:a="http://schemas.openxmlformats.org/drawingml/2006/main">
              <a:ext uri="{FF2B5EF4-FFF2-40B4-BE49-F238E27FC236}">
                <a16:creationId xmlns:a16="http://schemas.microsoft.com/office/drawing/2014/main" id="{2EFA51B7-BAD3-4987-AB85-49D711B2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RapidChiplet </a:t>
            </a:r>
            <a:r>
              <a:rPr b="0">
                <a:latin typeface="DFKai-SB"/>
                <a:ea typeface="DFKai-SB"/>
                <a:cs typeface="DFKai-SB"/>
              </a:rPr>
              <a:t>官方工具鏈</a:t>
            </a:r>
          </a:p>
          <a:p xmlns:a="http://schemas.openxmlformats.org/drawingml/2006/main">
            <a: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https://github.com/spcl/rapidchiplet</a:t>
            </a:r>
          </a:p>
        </p:txBody>
      </p:sp>
      <p:sp>
        <p:nvSpPr>
          <p:cNvPr id="5" name="專案證據&#10;docs/research/evidence/model_s">
            <a:extLst xmlns:a="http://schemas.openxmlformats.org/drawingml/2006/main">
              <a:ext uri="{FF2B5EF4-FFF2-40B4-BE49-F238E27FC236}">
                <a16:creationId xmlns:a16="http://schemas.microsoft.com/office/drawing/2014/main" id="{13103C39-266C-4D74-82DD-EAF618AD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專案證據</a:t>
            </a:r>
          </a:p>
          <a:p xmlns:a="http://schemas.openxmlformats.org/drawingml/2006/main">
            <a:pPr algn="l">
              <a:defRPr sz="2025" b="0">
                <a:solidFill>
                  <a:srgbClr val="173746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docs/research/evidence/model_suite_20261014/</a:t>
            </a:r>
          </a:p>
        </p:txBody>
      </p:sp>
      <p:sp>
        <p:nvSpPr>
          <p:cNvPr id="6" name="完整批次入口&#10;python tools/train_model_sui">
            <a:extLst xmlns:a="http://schemas.openxmlformats.org/drawingml/2006/main">
              <a:ext uri="{FF2B5EF4-FFF2-40B4-BE49-F238E27FC236}">
                <a16:creationId xmlns:a16="http://schemas.microsoft.com/office/drawing/2014/main" id="{933D2DA8-1F12-443C-B341-8E19BC3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10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完整批次入口</a:t>
            </a:r>
          </a:p>
          <a:p xmlns:a="http://schemas.openxmlformats.org/drawingml/2006/main">
            <a:pPr algn="l">
              <a:defRPr sz="2175" b="0">
                <a:solidFill>
                  <a:srgbClr val="226D65"/>
                </a:solidFill>
                <a:latin typeface="DFKai-SB"/>
                <a:ea typeface="DFKai-SB"/>
                <a:cs typeface="DFKai-SB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python tools/train_model_suite.py</a:t>
            </a:r>
          </a:p>
        </p:txBody>
      </p:sp>
      <p:sp>
        <p:nvSpPr>
          <p:cNvPr id="7" name="已完成基準：20261013T164333383414Z，新版狀態採 ">
            <a:extLst xmlns:a="http://schemas.openxmlformats.org/drawingml/2006/main">
              <a:ext uri="{FF2B5EF4-FFF2-40B4-BE49-F238E27FC236}">
                <a16:creationId xmlns:a16="http://schemas.microsoft.com/office/drawing/2014/main" id="{1D352EA4-91E0-456E-8F87-1980867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436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C"/>
                </a:solidFill>
                <a:latin typeface="DFKai-SB"/>
                <a:ea typeface="DFKai-SB"/>
                <a:cs typeface="DFKai-SB"/>
              </a:defRPr>
            </a:pPr>
            <a:r>
              <a:rPr b="0">
                <a:latin typeface="DFKai-SB"/>
                <a:ea typeface="DFKai-SB"/>
                <a:cs typeface="DFKai-SB"/>
              </a:rPr>
              <a:t>已完成基準：</a:t>
            </a:r>
            <a:r>
              <a:rPr>
                <a:latin typeface="Times New Roman"/>
                <a:ea typeface="Times New Roman"/>
                <a:cs typeface="Times New Roman"/>
              </a:rPr>
              <a:t>20261013T164333383414Z</a:t>
            </a:r>
            <a:r>
              <a:rPr b="0">
                <a:latin typeface="DFKai-SB"/>
                <a:ea typeface="DFKai-SB"/>
                <a:cs typeface="DFKai-SB"/>
              </a:rPr>
              <a:t>，新版狀態採</a:t>
            </a:r>
            <a:r>
              <a:rPr>
                <a:latin typeface="Times New Roman"/>
                <a:ea typeface="Times New Roman"/>
                <a:cs typeface="Times New Roman"/>
              </a:rPr>
              <a:t> 12:49 </a:t>
            </a:r>
            <a:r>
              <a:rPr b="0">
                <a:latin typeface="DFKai-SB"/>
                <a:ea typeface="DFKai-SB"/>
                <a:cs typeface="DFKai-SB"/>
              </a:rPr>
              <a:t>截點</a:t>
            </a:r>
          </a:p>
        </p:txBody>
      </p:sp>
    </p:spTree>
    <p:extLst>
      <p:ext uri="{BB962C8B-B14F-4D97-AF65-F5344CB8AC3E}">
        <p14:creationId xmlns:p14="http://schemas.microsoft.com/office/powerpoint/2010/main" val="1261624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2026-10-14T05:07:42.2410000Z</dcterms:created>
  <dcterms:modified xsi:type="dcterms:W3CDTF">2026-10-14T05:07:42.2410000Z</dcterms:modified>
</coreProperties>
</file>