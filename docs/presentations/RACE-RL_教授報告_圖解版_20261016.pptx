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fe25bb88a241bd" /><Relationship Type="http://schemas.openxmlformats.org/officeDocument/2006/relationships/extended-properties" Target="/docProps/app.xml" Id="R52023ca540b44e7a" /><Relationship Type="http://schemas.openxmlformats.org/officeDocument/2006/relationships/officeDocument" Target="/ppt/presentation.xml" Id="R79007c318b8d4e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d138da61ad4c91"/>
  </p:sldMasterIdLst>
  <p:notesMasterIdLst>
    <p:notesMasterId xmlns:r="http://schemas.openxmlformats.org/officeDocument/2006/relationships" r:id="R9717652c987243bd"/>
  </p:notesMasterIdLst>
  <p:sldIdLst>
    <p:sldId xmlns:r="http://schemas.openxmlformats.org/officeDocument/2006/relationships" id="256" r:id="Re519d3c5bd664ca9"/>
    <p:sldId xmlns:r="http://schemas.openxmlformats.org/officeDocument/2006/relationships" id="257" r:id="Rd83e65f0e127400a"/>
    <p:sldId xmlns:r="http://schemas.openxmlformats.org/officeDocument/2006/relationships" id="258" r:id="R8e53d1bfaf6648af"/>
    <p:sldId xmlns:r="http://schemas.openxmlformats.org/officeDocument/2006/relationships" id="259" r:id="Re624abd6f33347c9"/>
    <p:sldId xmlns:r="http://schemas.openxmlformats.org/officeDocument/2006/relationships" id="260" r:id="Re9867ec93c914ae1"/>
    <p:sldId xmlns:r="http://schemas.openxmlformats.org/officeDocument/2006/relationships" id="261" r:id="R791a2b1108034adc"/>
    <p:sldId xmlns:r="http://schemas.openxmlformats.org/officeDocument/2006/relationships" id="262" r:id="Rb89488688dce413e"/>
    <p:sldId xmlns:r="http://schemas.openxmlformats.org/officeDocument/2006/relationships" id="263" r:id="Rfdc923ca2fcd4b2a"/>
    <p:sldId xmlns:r="http://schemas.openxmlformats.org/officeDocument/2006/relationships" id="264" r:id="Rc57e41972382462a"/>
    <p:sldId xmlns:r="http://schemas.openxmlformats.org/officeDocument/2006/relationships" id="265" r:id="R9fecd8a86cc94625"/>
    <p:sldId xmlns:r="http://schemas.openxmlformats.org/officeDocument/2006/relationships" id="266" r:id="R597e659faef14420"/>
    <p:sldId xmlns:r="http://schemas.openxmlformats.org/officeDocument/2006/relationships" id="267" r:id="R81189b1b9c614eae"/>
    <p:sldId xmlns:r="http://schemas.openxmlformats.org/officeDocument/2006/relationships" id="268" r:id="R6b791e2a5b9e4624"/>
    <p:sldId xmlns:r="http://schemas.openxmlformats.org/officeDocument/2006/relationships" id="269" r:id="R1d480d23003249a0"/>
    <p:sldId xmlns:r="http://schemas.openxmlformats.org/officeDocument/2006/relationships" id="270" r:id="R7ce3b5e5ea9345dc"/>
    <p:sldId xmlns:r="http://schemas.openxmlformats.org/officeDocument/2006/relationships" id="271" r:id="R6d5d3bbdf6ae46f4"/>
    <p:sldId xmlns:r="http://schemas.openxmlformats.org/officeDocument/2006/relationships" id="272" r:id="Rebe2b8adf36449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c9b5e360a844f1" /><Relationship Type="http://schemas.openxmlformats.org/officeDocument/2006/relationships/slideMaster" Target="/ppt/slideMasters/slideMaster1.xml" Id="Rd4d138da61ad4c91" /><Relationship Type="http://schemas.openxmlformats.org/officeDocument/2006/relationships/notesMaster" Target="/ppt/notesMasters/notesMaster1.xml" Id="R9717652c987243bd" /><Relationship Type="http://schemas.openxmlformats.org/officeDocument/2006/relationships/presProps" Target="/ppt/presProps.xml" Id="R9b83f53b08594c04" /><Relationship Type="http://schemas.openxmlformats.org/officeDocument/2006/relationships/tableStyles" Target="/ppt/tableStyles.xml" Id="R3b4be003a4dd415f" /><Relationship Type="http://schemas.openxmlformats.org/officeDocument/2006/relationships/slide" Target="/ppt/slides/slide1.xml" Id="Re519d3c5bd664ca9" /><Relationship Type="http://schemas.openxmlformats.org/officeDocument/2006/relationships/slide" Target="/ppt/slides/slide2.xml" Id="Rd83e65f0e127400a" /><Relationship Type="http://schemas.openxmlformats.org/officeDocument/2006/relationships/slide" Target="/ppt/slides/slide3.xml" Id="R8e53d1bfaf6648af" /><Relationship Type="http://schemas.openxmlformats.org/officeDocument/2006/relationships/slide" Target="/ppt/slides/slide4.xml" Id="Re624abd6f33347c9" /><Relationship Type="http://schemas.openxmlformats.org/officeDocument/2006/relationships/slide" Target="/ppt/slides/slide5.xml" Id="Re9867ec93c914ae1" /><Relationship Type="http://schemas.openxmlformats.org/officeDocument/2006/relationships/slide" Target="/ppt/slides/slide6.xml" Id="R791a2b1108034adc" /><Relationship Type="http://schemas.openxmlformats.org/officeDocument/2006/relationships/slide" Target="/ppt/slides/slide7.xml" Id="Rb89488688dce413e" /><Relationship Type="http://schemas.openxmlformats.org/officeDocument/2006/relationships/slide" Target="/ppt/slides/slide8.xml" Id="Rfdc923ca2fcd4b2a" /><Relationship Type="http://schemas.openxmlformats.org/officeDocument/2006/relationships/slide" Target="/ppt/slides/slide9.xml" Id="Rc57e41972382462a" /><Relationship Type="http://schemas.openxmlformats.org/officeDocument/2006/relationships/slide" Target="/ppt/slides/slide10.xml" Id="R9fecd8a86cc94625" /><Relationship Type="http://schemas.openxmlformats.org/officeDocument/2006/relationships/slide" Target="/ppt/slides/slide11.xml" Id="R597e659faef14420" /><Relationship Type="http://schemas.openxmlformats.org/officeDocument/2006/relationships/slide" Target="/ppt/slides/slide12.xml" Id="R81189b1b9c614eae" /><Relationship Type="http://schemas.openxmlformats.org/officeDocument/2006/relationships/slide" Target="/ppt/slides/slide13.xml" Id="R6b791e2a5b9e4624" /><Relationship Type="http://schemas.openxmlformats.org/officeDocument/2006/relationships/slide" Target="/ppt/slides/slide14.xml" Id="R1d480d23003249a0" /><Relationship Type="http://schemas.openxmlformats.org/officeDocument/2006/relationships/slide" Target="/ppt/slides/slide15.xml" Id="R7ce3b5e5ea9345dc" /><Relationship Type="http://schemas.openxmlformats.org/officeDocument/2006/relationships/slide" Target="/ppt/slides/slide16.xml" Id="R6d5d3bbdf6ae46f4" /><Relationship Type="http://schemas.openxmlformats.org/officeDocument/2006/relationships/slide" Target="/ppt/slides/slide17.xml" Id="Rebe2b8adf364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e8a28a40b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b13c827c004c7f" /><Relationship Type="http://schemas.openxmlformats.org/officeDocument/2006/relationships/notesMaster" Target="/ppt/notesMasters/notesMaster1.xml" Id="R8b9d7a15dc8c4e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71286bbbac4732" /><Relationship Type="http://schemas.openxmlformats.org/officeDocument/2006/relationships/notesMaster" Target="/ppt/notesMasters/notesMaster1.xml" Id="Rd6a9171de73240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44214c7cc84d2a" /><Relationship Type="http://schemas.openxmlformats.org/officeDocument/2006/relationships/notesMaster" Target="/ppt/notesMasters/notesMaster1.xml" Id="R61d30e6001854b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109197aa92449b" /><Relationship Type="http://schemas.openxmlformats.org/officeDocument/2006/relationships/notesMaster" Target="/ppt/notesMasters/notesMaster1.xml" Id="Rb047a356e3dc48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1eaa7a65ab432c" /><Relationship Type="http://schemas.openxmlformats.org/officeDocument/2006/relationships/notesMaster" Target="/ppt/notesMasters/notesMaster1.xml" Id="Rf41c1a7b41804c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f42a5a46744cbd" /><Relationship Type="http://schemas.openxmlformats.org/officeDocument/2006/relationships/notesMaster" Target="/ppt/notesMasters/notesMaster1.xml" Id="R6f2da372ea0f40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8580d5618a4c73" /><Relationship Type="http://schemas.openxmlformats.org/officeDocument/2006/relationships/notesMaster" Target="/ppt/notesMasters/notesMaster1.xml" Id="Rcab1c5b2461a44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c74a6c4bee4ac7" /><Relationship Type="http://schemas.openxmlformats.org/officeDocument/2006/relationships/notesMaster" Target="/ppt/notesMasters/notesMaster1.xml" Id="R714a6659363149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8ba7f742c44761" /><Relationship Type="http://schemas.openxmlformats.org/officeDocument/2006/relationships/notesMaster" Target="/ppt/notesMasters/notesMaster1.xml" Id="Rb7587f72990649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8ada1bffda4af4" /><Relationship Type="http://schemas.openxmlformats.org/officeDocument/2006/relationships/notesMaster" Target="/ppt/notesMasters/notesMaster1.xml" Id="R1d24f9fa55f04c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42fb89a09a428b" /><Relationship Type="http://schemas.openxmlformats.org/officeDocument/2006/relationships/notesMaster" Target="/ppt/notesMasters/notesMaster1.xml" Id="Rda98583e1b5844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20ea9885d64113" /><Relationship Type="http://schemas.openxmlformats.org/officeDocument/2006/relationships/notesMaster" Target="/ppt/notesMasters/notesMaster1.xml" Id="Rffe2be5f3c9a4c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228e2f860248ad" /><Relationship Type="http://schemas.openxmlformats.org/officeDocument/2006/relationships/notesMaster" Target="/ppt/notesMasters/notesMaster1.xml" Id="Rc3c5c5c36d8942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12b077e90a4eeb" /><Relationship Type="http://schemas.openxmlformats.org/officeDocument/2006/relationships/notesMaster" Target="/ppt/notesMasters/notesMaster1.xml" Id="R2d1b7093d2c942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a3ea3b9c3f4dee" /><Relationship Type="http://schemas.openxmlformats.org/officeDocument/2006/relationships/notesMaster" Target="/ppt/notesMasters/notesMaster1.xml" Id="R8d47bfb131b84f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ae265f1a014ad8" /><Relationship Type="http://schemas.openxmlformats.org/officeDocument/2006/relationships/notesMaster" Target="/ppt/notesMasters/notesMaster1.xml" Id="R12433ae0de7246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621f2afc994070" /><Relationship Type="http://schemas.openxmlformats.org/officeDocument/2006/relationships/notesMaster" Target="/ppt/notesMasters/notesMaster1.xml" Id="R2ee87fd019bb43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本次聚焦目前 Gemmini 參照的完整 CNN 分層記憶體研究模型。研究希望由同一個 RL Agent 聯合選擇 chiplet 顆數、切分與配置，依使用者 PPA 限制搜尋。請先說明：軟體串接與短程訓練已完成，擴充硬體 RTL、製程成本校準及穩定學習優勢仍待驗證。舊版 20261014 簡報的兩個 DRAM、H-only 與長訓練結果不能當成新版硬體成果。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/Users/hsuyuchia/Documents/RACE-RL/configs/cnn_hardware.json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圖用四顆示意，並非固定顆數或搜尋結果。外部 DRAM 僅一個共享邏輯服務，接在 c0；其他 chiplet 經固定矩形 mesh 與 XY routing 存取。各 chiplet 有 GB 與計算陣列，詳細內部階層下一頁說明。Producer activation 若在 GB 駐留，consumer 可由 peer GB 經 mesh 取得，不必一律回寫 DRAM。目標是滿足功耗、單次推論延遲及運算晶粒面積限制後，依使用者權重選擇方案。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/Users/hsuyuchia/Documents/RACE-RL/configs/gemmini_platform.json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以內建 image_gen 製作的概念示意圖，經專案拓樸與資料路徑核對。非晶片 layout、非實測結果。生成提示與原始檔見 docs/presentations/assets/20261016/provenance.json。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GB=256KiB，四個64KiB banks。LB總20KiB，A/B各兩個4KiB slots，輸出4KiB。RF包括A256B、B256B、部分和1024B，共1536B。ACC為64KiB SRAM，與RF中的部分和寄存器不同，透過LB讀寫。陣列16×16，INT8輸入與INT32累加。新增16-lane FP32 vector處理打包與後處理。GB/ACC容量與陣列參數參照固定 Gemmini commit 8c3f9923a44a2fe2c7930587be297d6d4f8c09ca；LB/RF分層、vector與埠速率屬研究擴充，沒有匹配RTL。圖為邏輯資料路徑，不是總線或port的RTL接線圖。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/Users/hsuyuchia/Documents/RACE-RL/configs/cnn_hardware.json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/Users/hsuyuchia/Documents/RACE-RL/gemmini.lock.json</a:t>
            </a:r>
          </a:p>
          <a:p xmlns:a="http://schemas.openxmlformats.org/drawingml/2006/main">
            <a:r>
              <a:t>https://people.eecs.berkeley.edu/~ysshao/assets/papers/genc2021-dac.pdf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以內建 image_gen 製作的概念示意圖，經專案拓樸與資料路徑核對。非晶片 layout、非實測結果。生成提示與原始檔見 docs/presentations/assets/20261016/provenance.json。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圖中A1/A2/A3表示依序送入同一運算單元的輸入塊，並非A1算出A2的資料依賴。Y1/Y2/Y3也是輸出流，不表示算子相依鏈。圖省略GB/LB/ACC以凸顯RF weight-stationary重用。模型中RF的B權重跨M16 microtiles重用，LB中的A可跨N16使用；GB權重cache每顆只保留一個N-block，替換時重新搬入。重用必須符合容量及生命週期，不提供無限cache。較小tile、更多晶粒不保證更快，可能增加搬運、halo、tail padding及固定開銷。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/Users/hsuyuchia/Documents/RACE-RL/src/race_rl/accelerators/cnn_kernel.py</a:t>
            </a:r>
          </a:p>
          <a:p xmlns:a="http://schemas.openxmlformats.org/drawingml/2006/main">
            <a:r>
              <a:t>/Users/hsuyuchia/Documents/RACE-RL/src/race_rl/accelerators/cnn_model.py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以內建 image_gen 製作的概念示意圖，經專案拓樸與資料路徑核對。非晶片 layout、非實測結果。生成提示與原始檔見 docs/presentations/assets/20261016/provenance.json。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這是具體的輸出ownership例子，2×2×2共8個tile。每個輸出元素由一個tile負責，不重複累加。Cout與Cin不同，切Cout表示各tile負責不同輸出channel；每個輸出channel仍需完成該group所有Cin×kernelH×kernelW的reduction。K blocking是晶粒內reduction，尚未支援跨chiplet K reduction。對3×3、stride1、dilation1的卷積，8×8輸出tile通常需10×10輸入範圍，邊界padding另處理；halo與存取範圍需計入傳輸。圖不表示實際特定模型層。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/Users/hsuyuchia/Documents/RACE-RL/src/race_rl/accelerators/cnn_design.py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以內建 image_gen 製作的概念示意圖，經專案拓樸與資料路徑核對。非晶片 layout、非實測結果。生成提示與原始檔見 docs/presentations/assets/20261016/provenance.json。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profile為軟體blocking選擇，不是更改硬體陣列或SRAM容量。配置家族為指定起點的single或round-robin；activation/weight residency各選是否保留。預設scope=2，最多修改兩個相依實作算子；Flatten/Identity等alias不占edit slot。沒有任意逐tile mapping、跨層融合、跨chiplet K reduction或任意dataflow。一次action維持完整CNNDesign，即使只修改少量算子，其餘設定也明確保留。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/Users/hsuyuchia/Documents/RACE-RL/src/race_rl/accelerators/cnn_design.py</a:t>
            </a:r>
          </a:p>
          <a:p xmlns:a="http://schemas.openxmlformats.org/drawingml/2006/main">
            <a:r>
              <a:t>/Users/hsuyuchia/Documents/RACE-RL/src/race_rl/accelerators/cnn_policy.py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同一個共享關聯圖Encoder、joint Actor與Adam optimizer。觀察包含目前完整配置、算子/硬體/連線關係、需求、實際量到的模型回饋及上一次有效reward。一次forward後抽樣多個離散欄位，組成一個完整action；組成欄位期間沒有PPA lookahead或候選環境評估。環境計算資料流、容量、cycles、能耗與PPA，再回傳reward和新state。無PPO、無critic。無成本時可檢視一個完整動作，reward=None，禁止策略更新。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/Users/hsuyuchia/Documents/RACE-RL/src/race_rl/accelerators/cnn_environment.py</a:t>
            </a:r>
          </a:p>
          <a:p xmlns:a="http://schemas.openxmlformats.org/drawingml/2006/main">
            <a:r>
              <a:t>/Users/hsuyuchia/Documents/RACE-RL/src/race_rl/accelerators/cnn_policy.py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專案現行CNN RL架構圖，docs/research/figures/cnn_rl_architecture.png。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為scope內同時搬動A/B的例子，不代表合併成一個operator，亦不保證改善。完整action可同時選chiplet數、兩個相依算子的profile、residency、layout及target，而且兩算子可有不同edit。縮小mesh時不存在的target按modulo重映射，維持整套設計完整。物理合法但較差或超PPA上限的方案仍可成為current；best archive另存。避免單一映射差就永久淘汰某個顆數。物理不合法的action保留原current並回報失敗，環境沒有暗中修好tile。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/Users/hsuyuchia/Documents/RACE-RL/src/race_rl/accelerators/cnn_environment.py</a:t>
            </a:r>
          </a:p>
          <a:p xmlns:a="http://schemas.openxmlformats.org/drawingml/2006/main">
            <a:r>
              <a:t>/Users/hsuyuchia/Documents/RACE-RL/src/race_rl/accelerators/cnn_design.py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以內建 image_gen 製作的概念示意圖，經專案拓樸與資料路徑核對。非晶片 layout、非實測結果。生成提示與原始檔見 docs/presentations/assets/20261016/provenance.json。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功耗為一次推論的平均功耗，不是peak/TDP；效能以單次推論延遲表示，越低越好。面積僅compute chiplets，包含固定假設的PE、GB/LB/RF/ACC、vector及DMA/router/customPHY，排除外部DRAM與封裝。動態能量分MAC、各storage端點、DRAMpayload、DMAbus bytes、meshbyte-hops、vector，再加static power乘延遲。MAC不含RF，DMA不重複含DRAMI/O。timing為layer-barrier bottleneck估計，不是cycle-accurate scheduling或延遲上界。五種偏好為平均、功耗、效能、面積、自訂；平均1/3，偏重0.6/0.2/0.2。評分的完整違規優先公式在附錄。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/Users/hsuyuchia/Documents/RACE-RL/src/race_rl/accelerators/cnn_ppa.py</a:t>
            </a:r>
          </a:p>
          <a:p xmlns:a="http://schemas.openxmlformats.org/drawingml/2006/main">
            <a:r>
              <a:t>/Users/hsuyuchia/Documents/RACE-RL/src/race_rl/requirements.py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是一次完整聯合設計。episode是多次action與環境回饋的trajectory，預設最多64次互動；不是為了一個action等待64次內部評估。回合內模型參數固定，但state和上一reward會改變，因此下一action分布會因輸入而變。回合末用reward-to-go做一次REINFORCE更新，gamma=1，Adam lr=3e-4，gradient norm clip=.5，float64 RL參數。下回合reset設計，沿用學到的參數。60回合是預算，不保證收斂。前後凍結策略測試不更新參數。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/Users/hsuyuchia/Documents/RACE-RL/src/race_rl/accelerators/cnn_environment.py</a:t>
            </a:r>
          </a:p>
          <a:p xmlns:a="http://schemas.openxmlformats.org/drawingml/2006/main">
            <a:r>
              <a:t>/Users/hsuyuchia/Documents/RACE-RL/src/race_rl/training.py</a:t>
            </a:r>
          </a:p>
          <a:p xmlns:a="http://schemas.openxmlformats.org/drawingml/2006/main">
            <a:r>
              <a:t>https://doi.org/10.1007/BF00992696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以內建 image_gen 製作的概念示意圖，經專案拓樸與資料路徑核對。非晶片 layout、非實測結果。生成提示與原始檔見 docs/presentations/assets/20261016/provenance.json。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H1/H2/H3是研究假說，不是已證明的貢獻。舊合成TinyToy的10 variants×3 seeds配對pilot沒有穩定支持，不能轉移成新版CNN證據。新版需重建對照，固定初始化、相同action/環境互動計費與相同使用者需求。另與等預算random及SA比較，觀察最佳可行PPA、達標率、first-feasible步數、曲線及walltime。不能只固定episode數而讓某組使用更多環境查詢。PPO只作歷史/候選比較模型，正式實作仍REINFOR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/Users/hsuyuchia/Documents/RACE-RL/docs/research/hypothesis_results.md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/Users/hsuyuchia/Documents/RACE-RL/docs/research/research_progress.md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為2026-10-14既有短程驗證，不是今天重新跑的長實驗。基準244.687748mW，memory2x337.490500mW，mesh2x244.687748mW；三組選中1顆、面積5mm²、分析式延遲98.308734ms。三組都2次策略更新、共8次互動（訓練4次，凍結前後各2次），input64、scope2、seed7、evaluationseed17。測試限制1W/1s/80mm²。三次搜尋單一訓練種子，沒有信賴區間；不能由此推論RL優於random。Mesh2x選中單顆沒有跨chiplet傳輸，不能解讀為互連能耗永遠不重要。三份成本是DECLARED_ESTIMATE，固定500MHz及5mm²/chiplet。實際CPUwalltime約5.6/4.9/4.9秒，包含短程pipeline，不能外推60回合耗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/Users/hsuyuchia/Documents/RACE-RL/docs/research/evidence/cost_profiles/verification.json</a:t>
            </a:r>
          </a:p>
          <a:p xmlns:a="http://schemas.openxmlformats.org/drawingml/2006/main">
            <a:r>
              <a:t>/Users/hsuyuchia/Documents/RACE-RL/configs/ppa_profiles/provenance.json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可編輯原生資料圖。數值取自專案保存的report摘要。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SVG是先前真正GUI檢視所產生的8顆mesh，ResNet18/224×224，一次完整動作，策略更新0次。此結果沒有PPA成本，所以只證明配置與模型流量可呈現，不能稱為最優設計。連線寬度是單次推論模型累計bytes，不是瞬時頻寬或量測利用率；座標是格點，不是mm佈局。使用者輸入三項限制及五種偏好，載入有效成本後才訓練。可下載JSON與SVG，逐層placement及傳輸帳本可查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/Users/hsuyuchia/Documents/RACE-RL/docs/research/gui.md</a:t>
            </a:r>
          </a:p>
          <a:p xmlns:a="http://schemas.openxmlformats.org/drawingml/2006/main">
            <a:r>
              <a:t>/Users/hsuyuchia/Documents/RACE-RL/docs/research/figures/cnn_gui_design.svg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圖像說明</a:t>
            </a:r>
          </a:p>
          <a:p xmlns:a="http://schemas.openxmlformats.org/drawingml/2006/main">
            <a:r>
              <a:t>專案保存的實際GUI輸出SVG；非生成圖、非實體layout。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種CNN：ResNet18/34/50、VGG16/19、MobileNetV2、AlexNet，已有各2回合的TEST_FIXTURE串接證據；三份有來源與明列假設成本則各完成ResNet18短程訓練。不要合稱已完成七模型真實PPA長訓練。量化以隨機權重和固定種子輸入核對運算、shape與數值，不是ImageNet準確率。新增LB/RF/vector等硬體尚沒有匹配RTL。先前舊合成環境60回合研究結果屬另一個硬體/數值模型，不併入新版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/Users/hsuyuchia/Documents/RACE-RL/docs/research/evidence/cnn_hierarchy/model_summaries.json</a:t>
            </a:r>
          </a:p>
          <a:p xmlns:a="http://schemas.openxmlformats.org/drawingml/2006/main">
            <a:r>
              <a:t>/Users/hsuyuchia/Documents/RACE-RL/docs/research/evidence/cost_profiles/verification.json</a:t>
            </a:r>
          </a:p>
          <a:p xmlns:a="http://schemas.openxmlformats.org/drawingml/2006/main">
            <a:r>
              <a:t>/Users/hsuyuchia/Documents/RACE-RL/docs/research/cnn_hierarchy.md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此頁是待執行計畫，不表示實驗已完成。建議先對六組匯出的GEMM/tail/grouped/depthwise/vector案例取得匹配RTL的port trace和cycles，再與分析模型核對。製程成本需補MAC、SRAM/RF、vector、DMA、customD2D及面積。公平比較先固定相同廠商限制、輸入、seed與環境互動預算；多個獨立trainingseeds（建議先5個）與凍結evaluationseeds分開。cost×2是敏感度擾動，不是上下置信界。profiler分Actor、環境、更新、I/O；語義與帳本一致後再改速度，不以減少探索維度假裝加速。訓練60回合不是收斂證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/Users/hsuyuchia/Documents/RACE-RL/docs/research/cnn_hierarchy.md</a:t>
            </a:r>
          </a:p>
          <a:p xmlns:a="http://schemas.openxmlformats.org/drawingml/2006/main">
            <a:r>
              <a:t>/Users/hsuyuchia/Documents/RACE-RL/tools/export_cnn_calibration.py</a:t>
            </a:r>
          </a:p>
          <a:p xmlns:a="http://schemas.openxmlformats.org/drawingml/2006/main">
            <a:r>
              <a:t>/Users/hsuyuchia/Documents/RACE-RL/docs/research/hypothesis_results.md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已正規化，x依序為平均功耗、延遲、面積。所有達標方案M&lt;1，所有超標方案M&gt;2，所以可行優先。J為單調壓縮後目標，越低越好。B是回合內已量測best，初始B=1僅為未量測sentinel，沒有起始PPA評估。物理合法但非best仍成為current；reward只在best改善時為正，因此存在稀疏回報風險，需H3消融。物理失敗且已具成本profile時reward0；無成本rewardNone禁止更新。gamma=1，無critic，回合一次Adamupdate。公式的aₜ為完整聯合action，其logprob是各欄位條件抽樣logprob的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/Users/hsuyuchia/Documents/RACE-RL/src/race_rl/requirements.py</a:t>
            </a:r>
          </a:p>
          <a:p xmlns:a="http://schemas.openxmlformats.org/drawingml/2006/main">
            <a:r>
              <a:t>/Users/hsuyuchia/Documents/RACE-RL/src/race_rl/rewards.py</a:t>
            </a:r>
          </a:p>
          <a:p xmlns:a="http://schemas.openxmlformats.org/drawingml/2006/main">
            <a:r>
              <a:t>/Users/hsuyuchia/Documents/RACE-RL/src/race_rl/accelerators/cnn_environment.py</a:t>
            </a:r>
          </a:p>
          <a:p xmlns:a="http://schemas.openxmlformats.org/drawingml/2006/main">
            <a:r>
              <a:t>/Users/hsuyuchia/Documents/RACE-RL/src/race_rl/training.py</a:t>
            </a:r>
          </a:p>
          <a:p xmlns:a="http://schemas.openxmlformats.org/drawingml/2006/main">
            <a:r>
              <a:t>https://doi.org/10.1007/BF00992696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主要來源</a:t>
            </a:r>
          </a:p>
          <a:p xmlns:a="http://schemas.openxmlformats.org/drawingml/2006/main">
            <a:r>
              <a:t>Gemmini官方repo：https://github.com/ucb-bar/gemmini ，commit 8c3f9923a44a2fe2c7930587be297d6d4f8c09ca。</a:t>
            </a:r>
          </a:p>
          <a:p xmlns:a="http://schemas.openxmlformats.org/drawingml/2006/main">
            <a:r>
              <a:t>Gemmini DAC2021 Fig6在Intel22nmFFL，總面積1.029mm²含CPU .171mm²；本專案扣除CPU後粗略平方縮放，另加LB/RF/vector/router/customPHY假設，得到5.0mm²。</a:t>
            </a:r>
          </a:p>
          <a:p xmlns:a="http://schemas.openxmlformats.org/drawingml/2006/main">
            <a:r>
              <a:t>Horowitz45nm/0.9V INT8mul .2pJ+INT32add .1pJ作MAC .3pJ；SRAM64bit能耗轉per-byte，GB內插、LB代理、RF假設。</a:t>
            </a:r>
          </a:p>
          <a:p xmlns:a="http://schemas.openxmlformats.org/drawingml/2006/main">
            <a:r>
              <a:t>UCIe簡報PDF第20頁standard PHYtarget .5pJ/bit，加router allowance作5pJ/byte-hop；未聲稱本架構符合UCIe或45nmport可實現。</a:t>
            </a:r>
          </a:p>
          <a:p xmlns:a="http://schemas.openxmlformats.org/drawingml/2006/main">
            <a:r>
              <a:t>時脈500MHz、staticpower、vector混合操作及DMA增量成本都是宣告估計。成本係數與硬體identity鎖定，不是三份不同真實製程。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/Users/hsuyuchia/Documents/RACE-RL/configs/ppa_profiles/provenance.json</a:t>
            </a:r>
          </a:p>
          <a:p xmlns:a="http://schemas.openxmlformats.org/drawingml/2006/main">
            <a:r>
              <a:t>https://people.eecs.berkeley.edu/~ysshao/assets/papers/genc2021-dac.pdf</a:t>
            </a:r>
          </a:p>
          <a:p xmlns:a="http://schemas.openxmlformats.org/drawingml/2006/main">
            <a:r>
              <a:t>https://doi.org/10.1109/ISSCC.2014.6757323</a:t>
            </a:r>
          </a:p>
          <a:p xmlns:a="http://schemas.openxmlformats.org/drawingml/2006/main">
            <a:r>
              <a:t>https://www.ieee-edps.com/archives/2023/c/0900sharma.pdf</a:t>
            </a:r>
          </a:p>
          <a:p xmlns:a="http://schemas.openxmlformats.org/drawingml/2006/main">
            <a:r>
              <a:t>/Users/hsuyuchia/Documents/RACE-RL/gemmini.lock.json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8e1e4d56648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8bc0b859141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fb8b565ee43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392b4beed40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62714f55945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deb351e8f40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53E599-3D8D-437A-BDEE-07DBDF5BF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965161-A7D6-441F-B036-A4014CE5AA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95355D-058E-4958-8483-E3D84811C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77EC43-7689-4923-8624-233FBBAAA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535531-6154-49C3-821A-EFDE0F8AB8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802E68-43FC-4738-9F3A-5CBF72B5A6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47D410-94F7-443D-A1F0-25682661E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842916-F80C-4D9B-AD7E-A4C416A0DF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79422A-E3BD-42BD-B92B-3910EAA8C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13FFDF-A6B0-4975-8F89-8FA344D2BD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f26e05944c4bca" /><Relationship Type="http://schemas.openxmlformats.org/officeDocument/2006/relationships/slideLayout" Target="/ppt/slideLayouts/slideLayout1.xml" Id="R8d58567eec7f4113" /><Relationship Type="http://schemas.openxmlformats.org/officeDocument/2006/relationships/slideLayout" Target="/ppt/slideLayouts/slideLayout2.xml" Id="R7ddb76b98c234d6f" /><Relationship Type="http://schemas.openxmlformats.org/officeDocument/2006/relationships/slideLayout" Target="/ppt/slideLayouts/slideLayout3.xml" Id="R932f5725d84b4826" /><Relationship Type="http://schemas.openxmlformats.org/officeDocument/2006/relationships/slideLayout" Target="/ppt/slideLayouts/slideLayout4.xml" Id="R41c236cf6aa74d97" /><Relationship Type="http://schemas.openxmlformats.org/officeDocument/2006/relationships/slideLayout" Target="/ppt/slideLayouts/slideLayout5.xml" Id="R5d1c7dd5c0ed4343" /><Relationship Type="http://schemas.openxmlformats.org/officeDocument/2006/relationships/slideLayout" Target="/ppt/slideLayouts/slideLayout6.xml" Id="R83e717abcc724f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8567eec7f4113"/>
    <p:sldLayoutId xmlns:r="http://schemas.openxmlformats.org/officeDocument/2006/relationships" id="2147483650" r:id="R7ddb76b98c234d6f"/>
    <p:sldLayoutId xmlns:r="http://schemas.openxmlformats.org/officeDocument/2006/relationships" id="2147483651" r:id="R932f5725d84b4826"/>
    <p:sldLayoutId xmlns:r="http://schemas.openxmlformats.org/officeDocument/2006/relationships" id="2147483652" r:id="R41c236cf6aa74d97"/>
    <p:sldLayoutId xmlns:r="http://schemas.openxmlformats.org/officeDocument/2006/relationships" id="2147483653" r:id="R5d1c7dd5c0ed4343"/>
    <p:sldLayoutId xmlns:r="http://schemas.openxmlformats.org/officeDocument/2006/relationships" id="2147483654" r:id="R83e717abcc724f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be4c98fae4357" /><Relationship Type="http://schemas.openxmlformats.org/officeDocument/2006/relationships/notesSlide" Target="/ppt/notesSlides/notesSlide1.xml" Id="Rebceb1e1a14c40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373525ea04ab0" /><Relationship Type="http://schemas.openxmlformats.org/officeDocument/2006/relationships/image" Target="/ppt/media/image.png" Id="R581ad7e34d244e8d" /><Relationship Type="http://schemas.openxmlformats.org/officeDocument/2006/relationships/notesSlide" Target="/ppt/notesSlides/notesSlide2.xml" Id="Ra68579d84e3f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b34fc083242de" /><Relationship Type="http://schemas.openxmlformats.org/officeDocument/2006/relationships/image" Target="/ppt/media/image2.png" Id="R7caa6a9161904414" /><Relationship Type="http://schemas.openxmlformats.org/officeDocument/2006/relationships/notesSlide" Target="/ppt/notesSlides/notesSlide3.xml" Id="R448d1968fac747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987701569420c" /><Relationship Type="http://schemas.openxmlformats.org/officeDocument/2006/relationships/image" Target="/ppt/media/image3.png" Id="R02331db000624dbb" /><Relationship Type="http://schemas.openxmlformats.org/officeDocument/2006/relationships/notesSlide" Target="/ppt/notesSlides/notesSlide4.xml" Id="R019f925630164a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117a619bb4905" /><Relationship Type="http://schemas.openxmlformats.org/officeDocument/2006/relationships/image" Target="/ppt/media/image4.png" Id="R0b3ba48ac8544834" /><Relationship Type="http://schemas.openxmlformats.org/officeDocument/2006/relationships/notesSlide" Target="/ppt/notesSlides/notesSlide5.xml" Id="R4271cbe71cb244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7dc1350bf43f3" /><Relationship Type="http://schemas.openxmlformats.org/officeDocument/2006/relationships/notesSlide" Target="/ppt/notesSlides/notesSlide6.xml" Id="Re31d57d6de3648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3f94d90b64b26" /><Relationship Type="http://schemas.openxmlformats.org/officeDocument/2006/relationships/image" Target="/ppt/media/image5.png" Id="Rded0e706762d4acf" /><Relationship Type="http://schemas.openxmlformats.org/officeDocument/2006/relationships/notesSlide" Target="/ppt/notesSlides/notesSlide7.xml" Id="R0b1edfe0ba9049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5c42a607e4f95" /><Relationship Type="http://schemas.openxmlformats.org/officeDocument/2006/relationships/image" Target="/ppt/media/image6.png" Id="Rda1949d71eb44a09" /><Relationship Type="http://schemas.openxmlformats.org/officeDocument/2006/relationships/notesSlide" Target="/ppt/notesSlides/notesSlide8.xml" Id="R25addb248e434b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6bca179d1494a" /><Relationship Type="http://schemas.openxmlformats.org/officeDocument/2006/relationships/notesSlide" Target="/ppt/notesSlides/notesSlide9.xml" Id="Rc5c329dce47641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38774b4d244cb" /><Relationship Type="http://schemas.openxmlformats.org/officeDocument/2006/relationships/image" Target="/ppt/media/image7.png" Id="R9ec88bcaa8944db7" /><Relationship Type="http://schemas.openxmlformats.org/officeDocument/2006/relationships/notesSlide" Target="/ppt/notesSlides/notesSlide10.xml" Id="R579e9aa8bf8b46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8e118149f419e" /><Relationship Type="http://schemas.openxmlformats.org/officeDocument/2006/relationships/notesSlide" Target="/ppt/notesSlides/notesSlide11.xml" Id="R3e0007b8e9aa4b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a344d90c44339" /><Relationship Type="http://schemas.openxmlformats.org/officeDocument/2006/relationships/chart" Target="/ppt/slides/charts/chart1.xml" Id="Rdd7e98c574054c67" /><Relationship Type="http://schemas.openxmlformats.org/officeDocument/2006/relationships/notesSlide" Target="/ppt/notesSlides/notesSlide12.xml" Id="R45807d8b6d8b4d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f12a3bfa94923" /><Relationship Type="http://schemas.openxmlformats.org/officeDocument/2006/relationships/image" Target="/ppt/media/image8.png" Id="Rc75077ccd467425f" /><Relationship Type="http://schemas.openxmlformats.org/officeDocument/2006/relationships/notesSlide" Target="/ppt/notesSlides/notesSlide13.xml" Id="R82b9f4ea656547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a494ad3e54ebc" /><Relationship Type="http://schemas.openxmlformats.org/officeDocument/2006/relationships/notesSlide" Target="/ppt/notesSlides/notesSlide14.xml" Id="R614649079fa948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c8d1db5b3467c" /><Relationship Type="http://schemas.openxmlformats.org/officeDocument/2006/relationships/notesSlide" Target="/ppt/notesSlides/notesSlide15.xml" Id="Rfb823412fb4842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4dba8d7f5464c" /><Relationship Type="http://schemas.openxmlformats.org/officeDocument/2006/relationships/notesSlide" Target="/ppt/notesSlides/notesSlide16.xml" Id="R57584aa9226c4b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830492b5d46fe" /><Relationship Type="http://schemas.openxmlformats.org/officeDocument/2006/relationships/notesSlide" Target="/ppt/notesSlides/notesSlide17.xml" Id="Rcbc2a591e69e45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平均功耗 mW</c:v>
          </c:tx>
          <c:spPr>
            <a:solidFill xmlns:a="http://schemas.openxmlformats.org/drawingml/2006/main">
              <a:srgbClr val="0E7774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E777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2A6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8A09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基準</c:v>
                </c:pt>
                <c:pt idx="1">
                  <c:v>記憶體 ×2</c:v>
                </c:pt>
                <c:pt idx="2">
                  <c:v>Mesh ×2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244.7</c:v>
                </c:pt>
                <c:pt idx="1">
                  <c:v>337.5</c:v>
                </c:pt>
                <c:pt idx="2">
                  <c:v>244.7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53847"/>
                  </a:solidFill>
                  <a:latin typeface="DFKai-SB"/>
                  <a:ea typeface="DFKai-SB"/>
                  <a:cs typeface="DFKai-S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6D2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RACE-RL　研究進度報告">
            <a:extLst xmlns:a="http://schemas.openxmlformats.org/drawingml/2006/main">
              <a:ext uri="{FF2B5EF4-FFF2-40B4-BE49-F238E27FC236}">
                <a16:creationId xmlns:a16="http://schemas.microsoft.com/office/drawing/2014/main" id="{A53CFDDE-3D21-49B0-B5C6-CE70186A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研究進度報告</a:t>
            </a:r>
          </a:p>
        </p:txBody>
      </p:sp>
      <p:sp>
        <p:nvSpPr>
          <p:cNvPr id="2" name="text-01">
            <a:extLst xmlns:a="http://schemas.openxmlformats.org/drawingml/2006/main">
              <a:ext uri="{FF2B5EF4-FFF2-40B4-BE49-F238E27FC236}">
                <a16:creationId xmlns:a16="http://schemas.microsoft.com/office/drawing/2014/main" id="{1217294E-ED57-49E9-8CCB-5E656EBB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" name="text-RACE-RL">
            <a:extLst xmlns:a="http://schemas.openxmlformats.org/drawingml/2006/main">
              <a:ext uri="{FF2B5EF4-FFF2-40B4-BE49-F238E27FC236}">
                <a16:creationId xmlns:a16="http://schemas.microsoft.com/office/drawing/2014/main" id="{567C78D4-0C85-481A-9917-D821D73D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9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69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</a:p>
        </p:txBody>
      </p:sp>
      <p:sp>
        <p:nvSpPr>
          <p:cNvPr id="4" name="text-Chiplet 加速器的聯合設計空間探索">
            <a:extLst xmlns:a="http://schemas.openxmlformats.org/drawingml/2006/main">
              <a:ext uri="{FF2B5EF4-FFF2-40B4-BE49-F238E27FC236}">
                <a16:creationId xmlns:a16="http://schemas.microsoft.com/office/drawing/2014/main" id="{59C300D6-8D59-4386-9DEF-539CE9D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Chiplet </a:t>
            </a:r>
            <a:r>
              <a:rPr>
                <a:latin typeface="DFKai-SB"/>
                <a:ea typeface="DFKai-SB"/>
                <a:cs typeface="DFKai-SB"/>
              </a:rPr>
              <a:t>加速器的聯合設計空間探索</a:t>
            </a:r>
          </a:p>
        </p:txBody>
      </p:sp>
      <p:sp>
        <p:nvSpPr>
          <p:cNvPr id="5" name="text-Relational Attribution and C">
            <a:extLst xmlns:a="http://schemas.openxmlformats.org/drawingml/2006/main">
              <a:ext uri="{FF2B5EF4-FFF2-40B4-BE49-F238E27FC236}">
                <a16:creationId xmlns:a16="http://schemas.microsoft.com/office/drawing/2014/main" id="{18CEF116-D665-4FC1-BF41-A8EFF7E1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Relational Attribution and Coupled-Edit</a:t>
            </a:r>
          </a:p>
          <a:p xmlns:a="http://schemas.openxmlformats.org/drawingml/2006/main">
            <a:pPr algn="l">
              <a:defRPr sz="247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Reinforcement Learning</a:t>
            </a:r>
          </a:p>
        </p:txBody>
      </p:sp>
      <p:sp>
        <p:nvSpPr>
          <p:cNvPr id="6" name="text-教授報告　2026 年 10 月 16 日">
            <a:extLst xmlns:a="http://schemas.openxmlformats.org/drawingml/2006/main">
              <a:ext uri="{FF2B5EF4-FFF2-40B4-BE49-F238E27FC236}">
                <a16:creationId xmlns:a16="http://schemas.microsoft.com/office/drawing/2014/main" id="{BB9959CA-AB40-4AA3-A043-6A428B37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教授報告　</a:t>
            </a:r>
            <a:r>
              <a:rPr>
                <a:latin typeface="Times New Roman"/>
                <a:ea typeface="Times New Roman"/>
                <a:cs typeface="Times New Roman"/>
              </a:rPr>
              <a:t>2026 </a:t>
            </a:r>
            <a:r>
              <a:rPr>
                <a:latin typeface="DFKai-SB"/>
                <a:ea typeface="DFKai-SB"/>
                <a:cs typeface="DFKai-SB"/>
              </a:rPr>
              <a:t>年</a:t>
            </a:r>
            <a:r>
              <a:rPr>
                <a:latin typeface="Times New Roman"/>
                <a:ea typeface="Times New Roman"/>
                <a:cs typeface="Times New Roman"/>
              </a:rPr>
              <a:t> 10 </a:t>
            </a:r>
            <a:r>
              <a:rPr>
                <a:latin typeface="DFKai-SB"/>
                <a:ea typeface="DFKai-SB"/>
                <a:cs typeface="DFKai-SB"/>
              </a:rPr>
              <a:t>月</a:t>
            </a:r>
            <a:r>
              <a:rPr>
                <a:latin typeface="Times New Roman"/>
                <a:ea typeface="Times New Roman"/>
                <a:cs typeface="Times New Roman"/>
              </a:rPr>
              <a:t> 16 </a:t>
            </a:r>
            <a:r>
              <a:rPr>
                <a:latin typeface="DFKai-SB"/>
                <a:ea typeface="DFKai-SB"/>
                <a:cs typeface="DFKai-SB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240466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系統架構與研究目標">
            <a:extLst xmlns:a="http://schemas.openxmlformats.org/drawingml/2006/main">
              <a:ext uri="{FF2B5EF4-FFF2-40B4-BE49-F238E27FC236}">
                <a16:creationId xmlns:a16="http://schemas.microsoft.com/office/drawing/2014/main" id="{DFC7B529-E8EB-450A-AEB3-F86A67DF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系統架構與研究目標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F2A368B0-483B-4ED3-99F9-610414AC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02">
            <a:extLst xmlns:a="http://schemas.openxmlformats.org/drawingml/2006/main">
              <a:ext uri="{FF2B5EF4-FFF2-40B4-BE49-F238E27FC236}">
                <a16:creationId xmlns:a16="http://schemas.microsoft.com/office/drawing/2014/main" id="{56793847-4469-411B-9D7A-7823FA4A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72E34-08DA-4633-8657-D68BED1FA5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ad7e34d244e8d"/>
          <a:stretch xmlns:a="http://schemas.openxmlformats.org/drawingml/2006/main"/>
        </p:blipFill>
        <p:spPr>
          <a:xfrm xmlns:a="http://schemas.openxmlformats.org/drawingml/2006/main">
            <a:off x="2288024" y="1190625"/>
            <a:ext cx="7615951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text-同一個 RL 選擇 1–16 顆，聯合調整切分與配置">
            <a:extLst xmlns:a="http://schemas.openxmlformats.org/drawingml/2006/main">
              <a:ext uri="{FF2B5EF4-FFF2-40B4-BE49-F238E27FC236}">
                <a16:creationId xmlns:a16="http://schemas.microsoft.com/office/drawing/2014/main" id="{27380F13-5009-4B9A-BAC5-918D7ACF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同一個</a:t>
            </a:r>
            <a:r>
              <a:rPr>
                <a:latin typeface="Times New Roman"/>
                <a:ea typeface="Times New Roman"/>
                <a:cs typeface="Times New Roman"/>
              </a:rPr>
              <a:t> RL </a:t>
            </a:r>
            <a:r>
              <a:rPr>
                <a:latin typeface="DFKai-SB"/>
                <a:ea typeface="DFKai-SB"/>
                <a:cs typeface="DFKai-SB"/>
              </a:rPr>
              <a:t>選擇</a:t>
            </a:r>
            <a:r>
              <a:rPr>
                <a:latin typeface="Times New Roman"/>
                <a:ea typeface="Times New Roman"/>
                <a:cs typeface="Times New Roman"/>
              </a:rPr>
              <a:t> 1–16 </a:t>
            </a:r>
            <a:r>
              <a:rPr>
                <a:latin typeface="DFKai-SB"/>
                <a:ea typeface="DFKai-SB"/>
                <a:cs typeface="DFKai-SB"/>
              </a:rPr>
              <a:t>顆，聯合調整切分與配置</a:t>
            </a:r>
          </a:p>
        </p:txBody>
      </p:sp>
    </p:spTree>
    <p:extLst>
      <p:ext uri="{BB962C8B-B14F-4D97-AF65-F5344CB8AC3E}">
        <p14:creationId xmlns:p14="http://schemas.microsoft.com/office/powerpoint/2010/main" val="355063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晶粒內的記憶體階層">
            <a:extLst xmlns:a="http://schemas.openxmlformats.org/drawingml/2006/main">
              <a:ext uri="{FF2B5EF4-FFF2-40B4-BE49-F238E27FC236}">
                <a16:creationId xmlns:a16="http://schemas.microsoft.com/office/drawing/2014/main" id="{093FE10C-A825-435C-8629-660EE24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晶粒內的記憶體階層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3D8705A8-998B-4D95-90B7-DAF585C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03">
            <a:extLst xmlns:a="http://schemas.openxmlformats.org/drawingml/2006/main">
              <a:ext uri="{FF2B5EF4-FFF2-40B4-BE49-F238E27FC236}">
                <a16:creationId xmlns:a16="http://schemas.microsoft.com/office/drawing/2014/main" id="{0F1A1925-D285-4AB8-99E2-75CE27DA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B5926-59BD-443C-B44F-A0D2054AD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a6a9161904414"/>
          <a:stretch xmlns:a="http://schemas.openxmlformats.org/drawingml/2006/main"/>
        </p:blipFill>
        <p:spPr>
          <a:xfrm xmlns:a="http://schemas.openxmlformats.org/drawingml/2006/main">
            <a:off x="2372646" y="1238250"/>
            <a:ext cx="7446708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text-每一層都檢查容量、頻寬與資料存取">
            <a:extLst xmlns:a="http://schemas.openxmlformats.org/drawingml/2006/main">
              <a:ext uri="{FF2B5EF4-FFF2-40B4-BE49-F238E27FC236}">
                <a16:creationId xmlns:a16="http://schemas.microsoft.com/office/drawing/2014/main" id="{93F87C96-A0EF-480D-9384-6153050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每一層都檢查容量、頻寬與資料存取</a:t>
            </a:r>
          </a:p>
        </p:txBody>
      </p:sp>
    </p:spTree>
    <p:extLst>
      <p:ext uri="{BB962C8B-B14F-4D97-AF65-F5344CB8AC3E}">
        <p14:creationId xmlns:p14="http://schemas.microsoft.com/office/powerpoint/2010/main" val="1676771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權重重用與傳輸壓力">
            <a:extLst xmlns:a="http://schemas.openxmlformats.org/drawingml/2006/main">
              <a:ext uri="{FF2B5EF4-FFF2-40B4-BE49-F238E27FC236}">
                <a16:creationId xmlns:a16="http://schemas.microsoft.com/office/drawing/2014/main" id="{E0A92939-BC79-42E2-A192-B08954DA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權重重用與傳輸壓力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47B5F913-6BDD-4F12-A713-05976C29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04">
            <a:extLst xmlns:a="http://schemas.openxmlformats.org/drawingml/2006/main">
              <a:ext uri="{FF2B5EF4-FFF2-40B4-BE49-F238E27FC236}">
                <a16:creationId xmlns:a16="http://schemas.microsoft.com/office/drawing/2014/main" id="{D9BC418D-C38C-44B5-B657-61659BC1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ADDF-E284-4EE4-BB0D-C436D88DE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31db000624dbb"/>
          <a:stretch xmlns:a="http://schemas.openxmlformats.org/drawingml/2006/main"/>
        </p:blipFill>
        <p:spPr>
          <a:xfrm xmlns:a="http://schemas.openxmlformats.org/drawingml/2006/main">
            <a:off x="2288024" y="1190625"/>
            <a:ext cx="7615951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text-保留同一批權重，讓不同輸入 tile 重複使用">
            <a:extLst xmlns:a="http://schemas.openxmlformats.org/drawingml/2006/main">
              <a:ext uri="{FF2B5EF4-FFF2-40B4-BE49-F238E27FC236}">
                <a16:creationId xmlns:a16="http://schemas.microsoft.com/office/drawing/2014/main" id="{FE1FC81A-D6F7-48BE-8915-75D5EE6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保留同一批權重，讓不同輸入</a:t>
            </a:r>
            <a:r>
              <a:rPr>
                <a:latin typeface="Times New Roman"/>
                <a:ea typeface="Times New Roman"/>
                <a:cs typeface="Times New Roman"/>
              </a:rPr>
              <a:t> tile </a:t>
            </a:r>
            <a:r>
              <a:rPr>
                <a:latin typeface="DFKai-SB"/>
                <a:ea typeface="DFKai-SB"/>
                <a:cs typeface="DFKai-SB"/>
              </a:rPr>
              <a:t>重複使用</a:t>
            </a:r>
          </a:p>
        </p:txBody>
      </p:sp>
    </p:spTree>
    <p:extLst>
      <p:ext uri="{BB962C8B-B14F-4D97-AF65-F5344CB8AC3E}">
        <p14:creationId xmlns:p14="http://schemas.microsoft.com/office/powerpoint/2010/main" val="389909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H、W 與輸出通道切分">
            <a:extLst xmlns:a="http://schemas.openxmlformats.org/drawingml/2006/main">
              <a:ext uri="{FF2B5EF4-FFF2-40B4-BE49-F238E27FC236}">
                <a16:creationId xmlns:a16="http://schemas.microsoft.com/office/drawing/2014/main" id="{0B32BEE3-CEBA-4AA7-9BE9-3E572DA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</a:t>
            </a:r>
            <a:r>
              <a:rPr>
                <a:latin typeface="DFKai-SB"/>
                <a:ea typeface="DFKai-SB"/>
                <a:cs typeface="DFKai-SB"/>
              </a:rPr>
              <a:t>、</a:t>
            </a:r>
            <a:r>
              <a:rPr>
                <a:latin typeface="Times New Roman"/>
                <a:ea typeface="Times New Roman"/>
                <a:cs typeface="Times New Roman"/>
              </a:rPr>
              <a:t>W </a:t>
            </a:r>
            <a:r>
              <a:rPr>
                <a:latin typeface="DFKai-SB"/>
                <a:ea typeface="DFKai-SB"/>
                <a:cs typeface="DFKai-SB"/>
              </a:rPr>
              <a:t>與輸出通道切分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CBA09965-8AC4-4030-96E0-89FBD241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05">
            <a:extLst xmlns:a="http://schemas.openxmlformats.org/drawingml/2006/main">
              <a:ext uri="{FF2B5EF4-FFF2-40B4-BE49-F238E27FC236}">
                <a16:creationId xmlns:a16="http://schemas.microsoft.com/office/drawing/2014/main" id="{5C1BCD4B-7F48-49FA-8E31-FE2DC4D6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94223-74A2-4FE0-B6E6-71973942E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ba48ac8544834"/>
          <a:stretch xmlns:a="http://schemas.openxmlformats.org/drawingml/2006/main"/>
        </p:blipFill>
        <p:spPr>
          <a:xfrm xmlns:a="http://schemas.openxmlformats.org/drawingml/2006/main">
            <a:off x="1308480" y="1352550"/>
            <a:ext cx="9575039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text-H / W：輸出空間　　Cout：輸出通道">
            <a:extLst xmlns:a="http://schemas.openxmlformats.org/drawingml/2006/main">
              <a:ext uri="{FF2B5EF4-FFF2-40B4-BE49-F238E27FC236}">
                <a16:creationId xmlns:a16="http://schemas.microsoft.com/office/drawing/2014/main" id="{C8711A56-608E-44C9-AA58-4EA95EF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 / W</a:t>
            </a:r>
            <a:r>
              <a:rPr>
                <a:latin typeface="DFKai-SB"/>
                <a:ea typeface="DFKai-SB"/>
                <a:cs typeface="DFKai-SB"/>
              </a:rPr>
              <a:t>：輸出空間　　</a:t>
            </a:r>
            <a:r>
              <a:rPr>
                <a:latin typeface="Times New Roman"/>
                <a:ea typeface="Times New Roman"/>
                <a:cs typeface="Times New Roman"/>
              </a:rPr>
              <a:t>Cout</a:t>
            </a:r>
            <a:r>
              <a:rPr>
                <a:latin typeface="DFKai-SB"/>
                <a:ea typeface="DFKai-SB"/>
                <a:cs typeface="DFKai-SB"/>
              </a:rPr>
              <a:t>：輸出通道</a:t>
            </a:r>
          </a:p>
        </p:txBody>
      </p:sp>
      <p:sp>
        <p:nvSpPr>
          <p:cNvPr id="6" name="text-16 × 16 × 32 輸出，可分成 8 個 8 × ">
            <a:extLst xmlns:a="http://schemas.openxmlformats.org/drawingml/2006/main">
              <a:ext uri="{FF2B5EF4-FFF2-40B4-BE49-F238E27FC236}">
                <a16:creationId xmlns:a16="http://schemas.microsoft.com/office/drawing/2014/main" id="{2292AE85-67FA-4B55-8499-225439F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16 × 16 × 32 </a:t>
            </a:r>
            <a:r>
              <a:rPr>
                <a:latin typeface="DFKai-SB"/>
                <a:ea typeface="DFKai-SB"/>
                <a:cs typeface="DFKai-SB"/>
              </a:rPr>
              <a:t>輸出，可分成</a:t>
            </a:r>
            <a:r>
              <a:rPr>
                <a:latin typeface="Times New Roman"/>
                <a:ea typeface="Times New Roman"/>
                <a:cs typeface="Times New Roman"/>
              </a:rPr>
              <a:t> 8 </a:t>
            </a:r>
            <a:r>
              <a:rPr>
                <a:latin typeface="DFKai-SB"/>
                <a:ea typeface="DFKai-SB"/>
                <a:cs typeface="DFKai-SB"/>
              </a:rPr>
              <a:t>個</a:t>
            </a:r>
            <a:r>
              <a:rPr>
                <a:latin typeface="Times New Roman"/>
                <a:ea typeface="Times New Roman"/>
                <a:cs typeface="Times New Roman"/>
              </a:rPr>
              <a:t> 8 × 8 × 16 tiles</a:t>
            </a:r>
          </a:p>
        </p:txBody>
      </p:sp>
    </p:spTree>
    <p:extLst>
      <p:ext uri="{BB962C8B-B14F-4D97-AF65-F5344CB8AC3E}">
        <p14:creationId xmlns:p14="http://schemas.microsoft.com/office/powerpoint/2010/main" val="1208772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目前可探索的設計空間">
            <a:extLst xmlns:a="http://schemas.openxmlformats.org/drawingml/2006/main">
              <a:ext uri="{FF2B5EF4-FFF2-40B4-BE49-F238E27FC236}">
                <a16:creationId xmlns:a16="http://schemas.microsoft.com/office/drawing/2014/main" id="{307F04DE-03B0-4EE6-83C4-AA657C33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目前可探索的設計空間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B6E9C832-D064-4597-AA43-8EF2FEA8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06">
            <a:extLst xmlns:a="http://schemas.openxmlformats.org/drawingml/2006/main">
              <a:ext uri="{FF2B5EF4-FFF2-40B4-BE49-F238E27FC236}">
                <a16:creationId xmlns:a16="http://schemas.microsoft.com/office/drawing/2014/main" id="{5CAB89B0-5327-4D2F-AFA4-980EC63E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54B1F-3BB6-447C-B1B2-56BEE13A4E10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38625"/>
                <a:gridCol w="4352925"/>
              </a:tblGrid>
              <a:tr h="70866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設計項目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1">
                          <a:solidFill>
                            <a:srgbClr val="0E77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RL </a:t>
                      </a:r>
                      <a:r>
                        <a:rPr sz="202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選擇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固定條件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70866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Chiplet 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顆數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1–16 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矩形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mesh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XY routing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輸出切分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 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組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profile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晶粒內累加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 blocking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/ 32 / 64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工作與資料配置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位置、分散方式、駐留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硬體容量與陣列固定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(H, W, Cout, K) = (8,8,16,16">
            <a:extLst xmlns:a="http://schemas.openxmlformats.org/drawingml/2006/main">
              <a:ext uri="{FF2B5EF4-FFF2-40B4-BE49-F238E27FC236}">
                <a16:creationId xmlns:a16="http://schemas.microsoft.com/office/drawing/2014/main" id="{6C6A9CA3-A367-40C2-82C5-1BB03312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(H, W, Cout, K) = (8,8,16,16), (8,16,32,32),</a:t>
            </a:r>
          </a:p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(16,8,32,32), (16,16,64,64)</a:t>
            </a:r>
          </a:p>
        </p:txBody>
      </p:sp>
    </p:spTree>
    <p:extLst>
      <p:ext uri="{BB962C8B-B14F-4D97-AF65-F5344CB8AC3E}">
        <p14:creationId xmlns:p14="http://schemas.microsoft.com/office/powerpoint/2010/main" val="445568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單一 RL Agent 的互動流程">
            <a:extLst xmlns:a="http://schemas.openxmlformats.org/drawingml/2006/main">
              <a:ext uri="{FF2B5EF4-FFF2-40B4-BE49-F238E27FC236}">
                <a16:creationId xmlns:a16="http://schemas.microsoft.com/office/drawing/2014/main" id="{787539BC-C83E-41C6-8CF6-422A1DA2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單一</a:t>
            </a:r>
            <a:r>
              <a:rPr>
                <a:latin typeface="Times New Roman"/>
                <a:ea typeface="Times New Roman"/>
                <a:cs typeface="Times New Roman"/>
              </a:rPr>
              <a:t> RL Agent </a:t>
            </a:r>
            <a:r>
              <a:rPr>
                <a:latin typeface="DFKai-SB"/>
                <a:ea typeface="DFKai-SB"/>
                <a:cs typeface="DFKai-SB"/>
              </a:rPr>
              <a:t>的互動流程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78D40619-1548-4099-97E4-3259913B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07">
            <a:extLst xmlns:a="http://schemas.openxmlformats.org/drawingml/2006/main">
              <a:ext uri="{FF2B5EF4-FFF2-40B4-BE49-F238E27FC236}">
                <a16:creationId xmlns:a16="http://schemas.microsoft.com/office/drawing/2014/main" id="{432066DB-2CAA-4D6B-BBCE-31904BF9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F4918-D84E-47C8-A5CA-80B092FF46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0e706762d4acf"/>
          <a:stretch xmlns:a="http://schemas.openxmlformats.org/drawingml/2006/main"/>
        </p:blipFill>
        <p:spPr>
          <a:xfrm xmlns:a="http://schemas.openxmlformats.org/drawingml/2006/main">
            <a:off x="381000" y="1382598"/>
            <a:ext cx="11430000" cy="4073753"/>
          </a:xfrm>
          <a:prstGeom xmlns:a="http://schemas.openxmlformats.org/drawingml/2006/main" prst="rect">
            <a:avLst/>
          </a:prstGeom>
        </p:spPr>
      </p:pic>
      <p:sp>
        <p:nvSpPr>
          <p:cNvPr id="5" name="text-起始零 PPA 評估，完整 action 完成後才進環境">
            <a:extLst xmlns:a="http://schemas.openxmlformats.org/drawingml/2006/main">
              <a:ext uri="{FF2B5EF4-FFF2-40B4-BE49-F238E27FC236}">
                <a16:creationId xmlns:a16="http://schemas.microsoft.com/office/drawing/2014/main" id="{ED480FE3-DF6B-4A07-B054-32E77538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起始零</a:t>
            </a:r>
            <a:r>
              <a:rPr>
                <a:latin typeface="Times New Roman"/>
                <a:ea typeface="Times New Roman"/>
                <a:cs typeface="Times New Roman"/>
              </a:rPr>
              <a:t> PPA </a:t>
            </a:r>
            <a:r>
              <a:rPr>
                <a:latin typeface="DFKai-SB"/>
                <a:ea typeface="DFKai-SB"/>
                <a:cs typeface="DFKai-SB"/>
              </a:rPr>
              <a:t>評估，完整</a:t>
            </a:r>
            <a:r>
              <a:rPr>
                <a:latin typeface="Times New Roman"/>
                <a:ea typeface="Times New Roman"/>
                <a:cs typeface="Times New Roman"/>
              </a:rPr>
              <a:t> action </a:t>
            </a:r>
            <a:r>
              <a:rPr>
                <a:latin typeface="DFKai-SB"/>
                <a:ea typeface="DFKai-SB"/>
                <a:cs typeface="DFKai-SB"/>
              </a:rPr>
              <a:t>完成後才進環境</a:t>
            </a:r>
          </a:p>
        </p:txBody>
      </p:sp>
    </p:spTree>
    <p:extLst>
      <p:ext uri="{BB962C8B-B14F-4D97-AF65-F5344CB8AC3E}">
        <p14:creationId xmlns:p14="http://schemas.microsoft.com/office/powerpoint/2010/main" val="1283260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聯合修改的定義">
            <a:extLst xmlns:a="http://schemas.openxmlformats.org/drawingml/2006/main">
              <a:ext uri="{FF2B5EF4-FFF2-40B4-BE49-F238E27FC236}">
                <a16:creationId xmlns:a16="http://schemas.microsoft.com/office/drawing/2014/main" id="{73C3BAB8-81A4-455C-9163-2335CB9F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聯合修改的定義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0DFC74CE-B4C3-44F0-AF02-ABD39B64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08">
            <a:extLst xmlns:a="http://schemas.openxmlformats.org/drawingml/2006/main">
              <a:ext uri="{FF2B5EF4-FFF2-40B4-BE49-F238E27FC236}">
                <a16:creationId xmlns:a16="http://schemas.microsoft.com/office/drawing/2014/main" id="{4A6DE27A-BF27-4254-BB97-30A0418A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E5DCD-4134-4952-B5CC-266D787E1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949d71eb44a09"/>
          <a:stretch xmlns:a="http://schemas.openxmlformats.org/drawingml/2006/main"/>
        </p:blipFill>
        <p:spPr>
          <a:xfrm xmlns:a="http://schemas.openxmlformats.org/drawingml/2006/main">
            <a:off x="2288024" y="1190625"/>
            <a:ext cx="7615951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text-相依算子一起修改，中間不做環境評估">
            <a:extLst xmlns:a="http://schemas.openxmlformats.org/drawingml/2006/main">
              <a:ext uri="{FF2B5EF4-FFF2-40B4-BE49-F238E27FC236}">
                <a16:creationId xmlns:a16="http://schemas.microsoft.com/office/drawing/2014/main" id="{9A4F999B-0596-40D6-9C2A-B63F3E41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相依算子一起修改，中間不做環境評估</a:t>
            </a:r>
          </a:p>
        </p:txBody>
      </p:sp>
    </p:spTree>
    <p:extLst>
      <p:ext uri="{BB962C8B-B14F-4D97-AF65-F5344CB8AC3E}">
        <p14:creationId xmlns:p14="http://schemas.microsoft.com/office/powerpoint/2010/main" val="781582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環境如何計算與評分 PPA">
            <a:extLst xmlns:a="http://schemas.openxmlformats.org/drawingml/2006/main">
              <a:ext uri="{FF2B5EF4-FFF2-40B4-BE49-F238E27FC236}">
                <a16:creationId xmlns:a16="http://schemas.microsoft.com/office/drawing/2014/main" id="{74188CFF-86FE-44F2-A86C-50E55B97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環境如何計算與評分</a:t>
            </a:r>
            <a:r>
              <a:rPr>
                <a:latin typeface="Times New Roman"/>
                <a:ea typeface="Times New Roman"/>
                <a:cs typeface="Times New Roman"/>
              </a:rPr>
              <a:t> PPA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8FE9002C-3186-4C44-B49F-DDC43F27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09">
            <a:extLst xmlns:a="http://schemas.openxmlformats.org/drawingml/2006/main">
              <a:ext uri="{FF2B5EF4-FFF2-40B4-BE49-F238E27FC236}">
                <a16:creationId xmlns:a16="http://schemas.microsoft.com/office/drawing/2014/main" id="{991D98B6-EE96-4D42-ABBA-3B957FA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D87BD-A7DF-421C-8BB9-835CF82DE3CF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714375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環境帳本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轉換方式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714375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運算與逐層搬移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次數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bytes × 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對應能耗係數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分析式執行週期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 = cycles / clock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能量與晶粒數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 = E / L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= 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顆數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× 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單顆面積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C = wP(P/Pmax) + wL(L/Lmax) ">
            <a:extLst xmlns:a="http://schemas.openxmlformats.org/drawingml/2006/main">
              <a:ext uri="{FF2B5EF4-FFF2-40B4-BE49-F238E27FC236}">
                <a16:creationId xmlns:a16="http://schemas.microsoft.com/office/drawing/2014/main" id="{FAB42968-F163-49E6-9FAA-830C21F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 = wP(P/Pmax) + wL(L/Lmax) + wA(A/Amax)</a:t>
            </a:r>
          </a:p>
        </p:txBody>
      </p:sp>
      <p:sp>
        <p:nvSpPr>
          <p:cNvPr id="6" name="text-先滿足三項限制，再依正規化權重比較">
            <a:extLst xmlns:a="http://schemas.openxmlformats.org/drawingml/2006/main">
              <a:ext uri="{FF2B5EF4-FFF2-40B4-BE49-F238E27FC236}">
                <a16:creationId xmlns:a16="http://schemas.microsoft.com/office/drawing/2014/main" id="{23B01B3D-1773-4B62-9077-F75CF3DE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先滿足三項限制，再依正規化權重比較</a:t>
            </a:r>
          </a:p>
        </p:txBody>
      </p:sp>
    </p:spTree>
    <p:extLst>
      <p:ext uri="{BB962C8B-B14F-4D97-AF65-F5344CB8AC3E}">
        <p14:creationId xmlns:p14="http://schemas.microsoft.com/office/powerpoint/2010/main" val="125015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Episode 與策略更新時機">
            <a:extLst xmlns:a="http://schemas.openxmlformats.org/drawingml/2006/main">
              <a:ext uri="{FF2B5EF4-FFF2-40B4-BE49-F238E27FC236}">
                <a16:creationId xmlns:a16="http://schemas.microsoft.com/office/drawing/2014/main" id="{6450D636-A99C-4B71-AF3F-7C47A4B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Episode </a:t>
            </a:r>
            <a:r>
              <a:rPr>
                <a:latin typeface="DFKai-SB"/>
                <a:ea typeface="DFKai-SB"/>
                <a:cs typeface="DFKai-SB"/>
              </a:rPr>
              <a:t>與策略更新時機</a:t>
            </a:r>
          </a:p>
        </p:txBody>
      </p:sp>
      <p:sp>
        <p:nvSpPr>
          <p:cNvPr id="2" name="text-RACE-RL　研究方法">
            <a:extLst xmlns:a="http://schemas.openxmlformats.org/drawingml/2006/main">
              <a:ext uri="{FF2B5EF4-FFF2-40B4-BE49-F238E27FC236}">
                <a16:creationId xmlns:a16="http://schemas.microsoft.com/office/drawing/2014/main" id="{5E63AB5B-11F5-47B7-8C9B-FDF49C92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研究方法</a:t>
            </a:r>
          </a:p>
        </p:txBody>
      </p:sp>
      <p:sp>
        <p:nvSpPr>
          <p:cNvPr id="3" name="text-10">
            <a:extLst xmlns:a="http://schemas.openxmlformats.org/drawingml/2006/main">
              <a:ext uri="{FF2B5EF4-FFF2-40B4-BE49-F238E27FC236}">
                <a16:creationId xmlns:a16="http://schemas.microsoft.com/office/drawing/2014/main" id="{46F67E04-026E-4027-812E-8A7FC5B0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FAFB9-F565-4266-BA7D-4FA347FA2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88bcaa8944db7"/>
          <a:stretch xmlns:a="http://schemas.openxmlformats.org/drawingml/2006/main"/>
        </p:blipFill>
        <p:spPr>
          <a:xfrm xmlns:a="http://schemas.openxmlformats.org/drawingml/2006/main">
            <a:off x="2254176" y="1200150"/>
            <a:ext cx="7683648" cy="4324350"/>
          </a:xfrm>
          <a:prstGeom xmlns:a="http://schemas.openxmlformats.org/drawingml/2006/main" prst="rect">
            <a:avLst/>
          </a:prstGeom>
        </p:spPr>
      </p:pic>
      <p:sp>
        <p:nvSpPr>
          <p:cNvPr id="5" name="text-每步取得新 state 與 reward，回合結束更新一">
            <a:extLst xmlns:a="http://schemas.openxmlformats.org/drawingml/2006/main">
              <a:ext uri="{FF2B5EF4-FFF2-40B4-BE49-F238E27FC236}">
                <a16:creationId xmlns:a16="http://schemas.microsoft.com/office/drawing/2014/main" id="{02AFCA06-0167-42D2-A2E9-68594EFA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每步取得新</a:t>
            </a:r>
            <a:r>
              <a:rPr>
                <a:latin typeface="Times New Roman"/>
                <a:ea typeface="Times New Roman"/>
                <a:cs typeface="Times New Roman"/>
              </a:rPr>
              <a:t> state </a:t>
            </a:r>
            <a:r>
              <a:rPr>
                <a:latin typeface="DFKai-SB"/>
                <a:ea typeface="DFKai-SB"/>
                <a:cs typeface="DFKai-SB"/>
              </a:rPr>
              <a:t>與</a:t>
            </a:r>
            <a:r>
              <a:rPr>
                <a:latin typeface="Times New Roman"/>
                <a:ea typeface="Times New Roman"/>
                <a:cs typeface="Times New Roman"/>
              </a:rPr>
              <a:t> reward</a:t>
            </a:r>
            <a:r>
              <a:rPr>
                <a:latin typeface="DFKai-SB"/>
                <a:ea typeface="DFKai-SB"/>
                <a:cs typeface="DFKai-SB"/>
              </a:rPr>
              <a:t>，回合結束更新一次</a:t>
            </a:r>
          </a:p>
        </p:txBody>
      </p:sp>
    </p:spTree>
    <p:extLst>
      <p:ext uri="{BB962C8B-B14F-4D97-AF65-F5344CB8AC3E}">
        <p14:creationId xmlns:p14="http://schemas.microsoft.com/office/powerpoint/2010/main" val="3949507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核心假說與必要對照">
            <a:extLst xmlns:a="http://schemas.openxmlformats.org/drawingml/2006/main">
              <a:ext uri="{FF2B5EF4-FFF2-40B4-BE49-F238E27FC236}">
                <a16:creationId xmlns:a16="http://schemas.microsoft.com/office/drawing/2014/main" id="{2A7EF1F2-6002-4B21-873D-E67E5704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核心假說與必要對照</a:t>
            </a:r>
          </a:p>
        </p:txBody>
      </p:sp>
      <p:sp>
        <p:nvSpPr>
          <p:cNvPr id="2" name="text-RACE-RL　實驗設計">
            <a:extLst xmlns:a="http://schemas.openxmlformats.org/drawingml/2006/main">
              <a:ext uri="{FF2B5EF4-FFF2-40B4-BE49-F238E27FC236}">
                <a16:creationId xmlns:a16="http://schemas.microsoft.com/office/drawing/2014/main" id="{DAE6E97E-B82B-4D28-9904-CC203C44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實驗設計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CB3C483A-2A49-4907-9002-1921116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03A18-98E7-4CD3-9907-DE431177605B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4857750"/>
                <a:gridCol w="4829175"/>
              </a:tblGrid>
              <a:tr h="785813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假說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要驗證的機制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配對對照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785813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關聯圖與傳輸歸因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完整表示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移除歸因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相依算子聯合修改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聯合修改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單項修改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獎勵訊號設計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最佳值改善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</a:t>
                      </a:r>
                      <a:r>
                        <a:rPr sz="2100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其他回報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相同 PPA 限制、模型、輸入與互動預算">
            <a:extLst xmlns:a="http://schemas.openxmlformats.org/drawingml/2006/main">
              <a:ext uri="{FF2B5EF4-FFF2-40B4-BE49-F238E27FC236}">
                <a16:creationId xmlns:a16="http://schemas.microsoft.com/office/drawing/2014/main" id="{99D295E9-90A0-4857-83BA-185336C1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相同</a:t>
            </a:r>
            <a:r>
              <a:rPr>
                <a:latin typeface="Times New Roman"/>
                <a:ea typeface="Times New Roman"/>
                <a:cs typeface="Times New Roman"/>
              </a:rPr>
              <a:t> PPA </a:t>
            </a:r>
            <a:r>
              <a:rPr>
                <a:latin typeface="DFKai-SB"/>
                <a:ea typeface="DFKai-SB"/>
                <a:cs typeface="DFKai-SB"/>
              </a:rPr>
              <a:t>限制、模型、輸入與互動預算</a:t>
            </a:r>
          </a:p>
        </p:txBody>
      </p:sp>
      <p:sp>
        <p:nvSpPr>
          <p:cNvPr id="6" name="text-既有 Toy pilot 尚未支持 H1／H2／H3">
            <a:extLst xmlns:a="http://schemas.openxmlformats.org/drawingml/2006/main">
              <a:ext uri="{FF2B5EF4-FFF2-40B4-BE49-F238E27FC236}">
                <a16:creationId xmlns:a16="http://schemas.microsoft.com/office/drawing/2014/main" id="{ABBA8235-969F-40F3-908B-131CD19A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4939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4939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既有</a:t>
            </a:r>
            <a:r>
              <a:rPr>
                <a:latin typeface="Times New Roman"/>
                <a:ea typeface="Times New Roman"/>
                <a:cs typeface="Times New Roman"/>
              </a:rPr>
              <a:t> Toy pilot </a:t>
            </a:r>
            <a:r>
              <a:rPr>
                <a:latin typeface="DFKai-SB"/>
                <a:ea typeface="DFKai-SB"/>
                <a:cs typeface="DFKai-SB"/>
              </a:rPr>
              <a:t>尚未支持</a:t>
            </a:r>
            <a:r>
              <a:rPr>
                <a:latin typeface="Times New Roman"/>
                <a:ea typeface="Times New Roman"/>
                <a:cs typeface="Times New Roman"/>
              </a:rPr>
              <a:t> H1</a:t>
            </a:r>
            <a:r>
              <a:rPr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H2</a:t>
            </a:r>
            <a:r>
              <a:rPr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12354784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新版短程訓練的可核對結果">
            <a:extLst xmlns:a="http://schemas.openxmlformats.org/drawingml/2006/main">
              <a:ext uri="{FF2B5EF4-FFF2-40B4-BE49-F238E27FC236}">
                <a16:creationId xmlns:a16="http://schemas.microsoft.com/office/drawing/2014/main" id="{AE8BFEC5-1E37-4485-B478-D0ACC5C4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新版短程訓練的可核對結果</a:t>
            </a:r>
          </a:p>
        </p:txBody>
      </p:sp>
      <p:sp>
        <p:nvSpPr>
          <p:cNvPr id="2" name="text-RACE-RL　目前證據">
            <a:extLst xmlns:a="http://schemas.openxmlformats.org/drawingml/2006/main">
              <a:ext uri="{FF2B5EF4-FFF2-40B4-BE49-F238E27FC236}">
                <a16:creationId xmlns:a16="http://schemas.microsoft.com/office/drawing/2014/main" id="{8F11F8A4-B81F-4CF3-98A4-14DEEE94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目前證據</a:t>
            </a:r>
          </a:p>
        </p:txBody>
      </p:sp>
      <p:sp>
        <p:nvSpPr>
          <p:cNvPr id="3" name="text-12">
            <a:extLst xmlns:a="http://schemas.openxmlformats.org/drawingml/2006/main">
              <a:ext uri="{FF2B5EF4-FFF2-40B4-BE49-F238E27FC236}">
                <a16:creationId xmlns:a16="http://schemas.microsoft.com/office/drawing/2014/main" id="{4911CF67-D6D0-47C4-81A2-8995D8F3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C14DF0D-92FF-4616-9F8A-FCB300976172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676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7e98c574054c67"/>
          </a:graphicData>
        </a:graphic>
      </p:graphicFrame>
      <p:sp>
        <p:nvSpPr>
          <p:cNvPr id="5" name="text-平均功耗（mW）">
            <a:extLst xmlns:a="http://schemas.openxmlformats.org/drawingml/2006/main">
              <a:ext uri="{FF2B5EF4-FFF2-40B4-BE49-F238E27FC236}">
                <a16:creationId xmlns:a16="http://schemas.microsoft.com/office/drawing/2014/main" id="{4FFD1933-384D-466E-8618-8F6C36F5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平均功耗（</a:t>
            </a:r>
            <a:r>
              <a:rPr>
                <a:latin typeface="Times New Roman"/>
                <a:ea typeface="Times New Roman"/>
                <a:cs typeface="Times New Roman"/>
              </a:rPr>
              <a:t>mW</a:t>
            </a:r>
            <a:r>
              <a:rPr>
                <a:latin typeface="DFKai-SB"/>
                <a:ea typeface="DFKai-SB"/>
                <a:cs typeface="DFKai-SB"/>
              </a:rPr>
              <a:t>）</a:t>
            </a:r>
          </a:p>
        </p:txBody>
      </p:sp>
      <p:sp>
        <p:nvSpPr>
          <p:cNvPr id="6" name="text-ResNet-18　64 × 64&#10;&#10;每情境 2 回合&#10;">
            <a:extLst xmlns:a="http://schemas.openxmlformats.org/drawingml/2006/main">
              <a:ext uri="{FF2B5EF4-FFF2-40B4-BE49-F238E27FC236}">
                <a16:creationId xmlns:a16="http://schemas.microsoft.com/office/drawing/2014/main" id="{36796F61-4CA3-42CF-B031-E2D8D3BF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71625"/>
            <a:ext cx="381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ResNet-18</a:t>
            </a:r>
            <a:r>
              <a:rPr>
                <a:latin typeface="DFKai-SB"/>
                <a:ea typeface="DFKai-SB"/>
                <a:cs typeface="DFKai-SB"/>
              </a:rPr>
              <a:t>　</a:t>
            </a:r>
            <a:r>
              <a:rPr>
                <a:latin typeface="Times New Roman"/>
                <a:ea typeface="Times New Roman"/>
                <a:cs typeface="Times New Roman"/>
              </a:rPr>
              <a:t>64 × 64</a:t>
            </a:r>
          </a:p>
          <a:p xmlns:a="http://schemas.openxmlformats.org/drawingml/2006/main">
            <a:pPr algn="l">
              <a:defRPr sz="20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</a:p>
          <a:p xmlns:a="http://schemas.openxmlformats.org/drawingml/2006/main">
            <a:pPr algn="l">
              <a:defRPr sz="20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每情境</a:t>
            </a:r>
            <a:r>
              <a:rPr>
                <a:latin typeface="Times New Roman"/>
                <a:ea typeface="Times New Roman"/>
                <a:cs typeface="Times New Roman"/>
              </a:rPr>
              <a:t> 2 </a:t>
            </a:r>
            <a:r>
              <a:rPr>
                <a:latin typeface="DFKai-SB"/>
                <a:ea typeface="DFKai-SB"/>
                <a:cs typeface="DFKai-SB"/>
              </a:rPr>
              <a:t>回合</a:t>
            </a:r>
          </a:p>
          <a:p xmlns:a="http://schemas.openxmlformats.org/drawingml/2006/main">
            <a:pPr algn="l">
              <a:defRPr sz="20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 </a:t>
            </a:r>
            <a:r>
              <a:rPr>
                <a:latin typeface="DFKai-SB"/>
                <a:ea typeface="DFKai-SB"/>
                <a:cs typeface="DFKai-SB"/>
              </a:rPr>
              <a:t>次策略更新</a:t>
            </a:r>
          </a:p>
          <a:p xmlns:a="http://schemas.openxmlformats.org/drawingml/2006/main">
            <a:pPr algn="l">
              <a:defRPr sz="20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選中</a:t>
            </a:r>
            <a:r>
              <a:rPr>
                <a:latin typeface="Times New Roman"/>
                <a:ea typeface="Times New Roman"/>
                <a:cs typeface="Times New Roman"/>
              </a:rPr>
              <a:t> 1 </a:t>
            </a:r>
            <a:r>
              <a:rPr>
                <a:latin typeface="DFKai-SB"/>
                <a:ea typeface="DFKai-SB"/>
                <a:cs typeface="DFKai-SB"/>
              </a:rPr>
              <a:t>顆，延遲</a:t>
            </a:r>
            <a:r>
              <a:rPr>
                <a:latin typeface="Times New Roman"/>
                <a:ea typeface="Times New Roman"/>
                <a:cs typeface="Times New Roman"/>
              </a:rPr>
              <a:t> 98.3 ms</a:t>
            </a:r>
          </a:p>
        </p:txBody>
      </p:sp>
      <p:sp>
        <p:nvSpPr>
          <p:cNvPr id="7" name="text-只證明串接可訓練，尚未驗證學習成效">
            <a:extLst xmlns:a="http://schemas.openxmlformats.org/drawingml/2006/main">
              <a:ext uri="{FF2B5EF4-FFF2-40B4-BE49-F238E27FC236}">
                <a16:creationId xmlns:a16="http://schemas.microsoft.com/office/drawing/2014/main" id="{7A441911-E59B-4751-961C-D92A6AC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4939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4939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只證明串接可訓練，尚未驗證學習成效</a:t>
            </a:r>
          </a:p>
        </p:txBody>
      </p:sp>
    </p:spTree>
    <p:extLst>
      <p:ext uri="{BB962C8B-B14F-4D97-AF65-F5344CB8AC3E}">
        <p14:creationId xmlns:p14="http://schemas.microsoft.com/office/powerpoint/2010/main" val="1044104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網頁直接展示配置與資料傳輸">
            <a:extLst xmlns:a="http://schemas.openxmlformats.org/drawingml/2006/main">
              <a:ext uri="{FF2B5EF4-FFF2-40B4-BE49-F238E27FC236}">
                <a16:creationId xmlns:a16="http://schemas.microsoft.com/office/drawing/2014/main" id="{2D063A21-F2C0-4176-BF54-709BAECA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網頁直接展示配置與資料傳輸</a:t>
            </a:r>
          </a:p>
        </p:txBody>
      </p:sp>
      <p:sp>
        <p:nvSpPr>
          <p:cNvPr id="2" name="text-RACE-RL　操作與輸出">
            <a:extLst xmlns:a="http://schemas.openxmlformats.org/drawingml/2006/main">
              <a:ext uri="{FF2B5EF4-FFF2-40B4-BE49-F238E27FC236}">
                <a16:creationId xmlns:a16="http://schemas.microsoft.com/office/drawing/2014/main" id="{CD9903FF-C2DF-4A67-84DF-6811FCD3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操作與輸出</a:t>
            </a:r>
          </a:p>
        </p:txBody>
      </p:sp>
      <p:sp>
        <p:nvSpPr>
          <p:cNvPr id="3" name="text-13">
            <a:extLst xmlns:a="http://schemas.openxmlformats.org/drawingml/2006/main">
              <a:ext uri="{FF2B5EF4-FFF2-40B4-BE49-F238E27FC236}">
                <a16:creationId xmlns:a16="http://schemas.microsoft.com/office/drawing/2014/main" id="{9FFC97B2-6A2B-4F2A-8291-149A4567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7C13-AD09-4F8F-B7FA-554AF8D08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077ccd467425f"/>
          <a:stretch xmlns:a="http://schemas.openxmlformats.org/drawingml/2006/main"/>
        </p:blipFill>
        <p:spPr>
          <a:xfrm xmlns:a="http://schemas.openxmlformats.org/drawingml/2006/main">
            <a:off x="381000" y="1366119"/>
            <a:ext cx="11430000" cy="3840012"/>
          </a:xfrm>
          <a:prstGeom xmlns:a="http://schemas.openxmlformats.org/drawingml/2006/main" prst="rect">
            <a:avLst/>
          </a:prstGeom>
        </p:spPr>
      </p:pic>
      <p:sp>
        <p:nvSpPr>
          <p:cNvPr id="5" name="text-顆數與位置　　算子配置　　方向與累計 bytes">
            <a:extLst xmlns:a="http://schemas.openxmlformats.org/drawingml/2006/main">
              <a:ext uri="{FF2B5EF4-FFF2-40B4-BE49-F238E27FC236}">
                <a16:creationId xmlns:a16="http://schemas.microsoft.com/office/drawing/2014/main" id="{3216AAC9-1EA5-4161-B991-F452B49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顆數與位置　　算子配置　　方向與累計</a:t>
            </a:r>
            <a:r>
              <a:rPr>
                <a:latin typeface="Times New Roman"/>
                <a:ea typeface="Times New Roman"/>
                <a:cs typeface="Times New Roman"/>
              </a:rPr>
              <a:t> bytes</a:t>
            </a:r>
          </a:p>
        </p:txBody>
      </p:sp>
      <p:sp>
        <p:nvSpPr>
          <p:cNvPr id="6" name="text-這張是無成本的設計檢視，並非訓練最佳解">
            <a:extLst xmlns:a="http://schemas.openxmlformats.org/drawingml/2006/main">
              <a:ext uri="{FF2B5EF4-FFF2-40B4-BE49-F238E27FC236}">
                <a16:creationId xmlns:a16="http://schemas.microsoft.com/office/drawing/2014/main" id="{C54F6F1B-599A-4422-88C1-369ADF23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這張是無成本的設計檢視，並非訓練最佳解</a:t>
            </a:r>
          </a:p>
        </p:txBody>
      </p:sp>
    </p:spTree>
    <p:extLst>
      <p:ext uri="{BB962C8B-B14F-4D97-AF65-F5344CB8AC3E}">
        <p14:creationId xmlns:p14="http://schemas.microsoft.com/office/powerpoint/2010/main" val="17963072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目前完成度與可信度界線">
            <a:extLst xmlns:a="http://schemas.openxmlformats.org/drawingml/2006/main">
              <a:ext uri="{FF2B5EF4-FFF2-40B4-BE49-F238E27FC236}">
                <a16:creationId xmlns:a16="http://schemas.microsoft.com/office/drawing/2014/main" id="{840F609A-B7F7-4B3C-A39C-275F8E75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目前完成度與可信度界線</a:t>
            </a:r>
          </a:p>
        </p:txBody>
      </p:sp>
      <p:sp>
        <p:nvSpPr>
          <p:cNvPr id="2" name="text-RACE-RL　研究進度">
            <a:extLst xmlns:a="http://schemas.openxmlformats.org/drawingml/2006/main">
              <a:ext uri="{FF2B5EF4-FFF2-40B4-BE49-F238E27FC236}">
                <a16:creationId xmlns:a16="http://schemas.microsoft.com/office/drawing/2014/main" id="{E73A6C74-7907-43BC-B338-E9532CED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研究進度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1F7BFF3C-7214-4FFD-B545-F821EE5C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4" name="text-已完成">
            <a:extLst xmlns:a="http://schemas.openxmlformats.org/drawingml/2006/main">
              <a:ext uri="{FF2B5EF4-FFF2-40B4-BE49-F238E27FC236}">
                <a16:creationId xmlns:a16="http://schemas.microsoft.com/office/drawing/2014/main" id="{06F95413-7BD3-46B3-8305-EDF93019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已完成</a:t>
            </a:r>
          </a:p>
        </p:txBody>
      </p:sp>
      <p:sp>
        <p:nvSpPr>
          <p:cNvPr id="5" name="text-完整 CNN 與分層資料流&#10;&#10;單一 REINFORCE ">
            <a:extLst xmlns:a="http://schemas.openxmlformats.org/drawingml/2006/main">
              <a:ext uri="{FF2B5EF4-FFF2-40B4-BE49-F238E27FC236}">
                <a16:creationId xmlns:a16="http://schemas.microsoft.com/office/drawing/2014/main" id="{57A1E626-94C4-4229-BCA1-FA1772F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50673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完整</a:t>
            </a:r>
            <a:r>
              <a:rPr>
                <a:latin typeface="Times New Roman"/>
                <a:ea typeface="Times New Roman"/>
                <a:cs typeface="Times New Roman"/>
              </a:rPr>
              <a:t> CNN </a:t>
            </a:r>
            <a:r>
              <a:rPr>
                <a:latin typeface="DFKai-SB"/>
                <a:ea typeface="DFKai-SB"/>
                <a:cs typeface="DFKai-SB"/>
              </a:rPr>
              <a:t>與分層資料流</a:t>
            </a: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單一</a:t>
            </a:r>
            <a:r>
              <a:rPr>
                <a:latin typeface="Times New Roman"/>
                <a:ea typeface="Times New Roman"/>
                <a:cs typeface="Times New Roman"/>
              </a:rPr>
              <a:t> REINFORCE </a:t>
            </a:r>
            <a:r>
              <a:rPr>
                <a:latin typeface="DFKai-SB"/>
                <a:ea typeface="DFKai-SB"/>
                <a:cs typeface="DFKai-SB"/>
              </a:rPr>
              <a:t>互動</a:t>
            </a: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GUI</a:t>
            </a:r>
            <a:r>
              <a:rPr>
                <a:latin typeface="DFKai-SB"/>
                <a:ea typeface="DFKai-SB"/>
                <a:cs typeface="DFKai-SB"/>
              </a:rPr>
              <a:t>、紀錄與續跑</a:t>
            </a: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三份可載入估計成本</a:t>
            </a:r>
          </a:p>
        </p:txBody>
      </p:sp>
      <p:sp>
        <p:nvSpPr>
          <p:cNvPr id="6" name="text-尚待驗證">
            <a:extLst xmlns:a="http://schemas.openxmlformats.org/drawingml/2006/main">
              <a:ext uri="{FF2B5EF4-FFF2-40B4-BE49-F238E27FC236}">
                <a16:creationId xmlns:a16="http://schemas.microsoft.com/office/drawing/2014/main" id="{AF72067C-4E06-49F3-85EA-BD1ABDE3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287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A8782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8782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尚待驗證</a:t>
            </a:r>
          </a:p>
        </p:txBody>
      </p:sp>
      <p:sp>
        <p:nvSpPr>
          <p:cNvPr id="7" name="text-擴充硬體 RTL 與時序&#10;&#10;製程能耗與面積校準&#10;&#10;多種子">
            <a:extLst xmlns:a="http://schemas.openxmlformats.org/drawingml/2006/main">
              <a:ext uri="{FF2B5EF4-FFF2-40B4-BE49-F238E27FC236}">
                <a16:creationId xmlns:a16="http://schemas.microsoft.com/office/drawing/2014/main" id="{4EEBDDBF-E32E-4C88-92B3-ABA34ECA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擴充硬體</a:t>
            </a:r>
            <a:r>
              <a:rPr>
                <a:latin typeface="Times New Roman"/>
                <a:ea typeface="Times New Roman"/>
                <a:cs typeface="Times New Roman"/>
              </a:rPr>
              <a:t> RTL </a:t>
            </a:r>
            <a:r>
              <a:rPr>
                <a:latin typeface="DFKai-SB"/>
                <a:ea typeface="DFKai-SB"/>
                <a:cs typeface="DFKai-SB"/>
              </a:rPr>
              <a:t>與時序</a:t>
            </a: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製程能耗與面積校準</a:t>
            </a: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多種子學習優勢</a:t>
            </a: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</a:p>
          <a:p xmlns:a="http://schemas.openxmlformats.org/drawingml/2006/main">
            <a:pPr algn="l">
              <a:defRPr sz="225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資料集量化準確率</a:t>
            </a:r>
          </a:p>
        </p:txBody>
      </p:sp>
      <p:sp>
        <p:nvSpPr>
          <p:cNvPr id="8" name="text-目前定位：有明確探索範圍的分析式研究平台">
            <a:extLst xmlns:a="http://schemas.openxmlformats.org/drawingml/2006/main">
              <a:ext uri="{FF2B5EF4-FFF2-40B4-BE49-F238E27FC236}">
                <a16:creationId xmlns:a16="http://schemas.microsoft.com/office/drawing/2014/main" id="{01CFAB80-125C-48BF-949A-10519737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目前定位：有明確探索範圍的分析式研究平台</a:t>
            </a:r>
          </a:p>
        </p:txBody>
      </p:sp>
    </p:spTree>
    <p:extLst>
      <p:ext uri="{BB962C8B-B14F-4D97-AF65-F5344CB8AC3E}">
        <p14:creationId xmlns:p14="http://schemas.microsoft.com/office/powerpoint/2010/main" val="17899892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下一階段實驗與教授討論">
            <a:extLst xmlns:a="http://schemas.openxmlformats.org/drawingml/2006/main">
              <a:ext uri="{FF2B5EF4-FFF2-40B4-BE49-F238E27FC236}">
                <a16:creationId xmlns:a16="http://schemas.microsoft.com/office/drawing/2014/main" id="{1B73FE14-EB9B-4E87-9720-B3F99921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下一階段實驗與教授討論</a:t>
            </a:r>
          </a:p>
        </p:txBody>
      </p:sp>
      <p:sp>
        <p:nvSpPr>
          <p:cNvPr id="2" name="text-RACE-RL　研究計畫">
            <a:extLst xmlns:a="http://schemas.openxmlformats.org/drawingml/2006/main">
              <a:ext uri="{FF2B5EF4-FFF2-40B4-BE49-F238E27FC236}">
                <a16:creationId xmlns:a16="http://schemas.microsoft.com/office/drawing/2014/main" id="{39606893-402C-477C-B79F-F674C38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研究計畫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03FDF430-D258-49CA-8958-D5C55052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2A1CF-E93E-49EA-96E3-BDC8B7462E89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9200"/>
                <a:gridCol w="4762500"/>
                <a:gridCol w="4991100"/>
              </a:tblGrid>
              <a:tr h="68580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順序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工作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驗收依據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8580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固定小型硬體案例校準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數值、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cycles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、各層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bytes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等預算比較與消融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達標率、最佳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PPA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、互動數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獨立種子與成本敏感度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變異範圍、配對結果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擴充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224 × 224 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實驗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202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CPU </a:t>
                      </a:r>
                      <a:r>
                        <a:rPr sz="202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耗時與模型延遲分開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討論重點：校準層級、比較方法與可接受的訓練預算">
            <a:extLst xmlns:a="http://schemas.openxmlformats.org/drawingml/2006/main">
              <a:ext uri="{FF2B5EF4-FFF2-40B4-BE49-F238E27FC236}">
                <a16:creationId xmlns:a16="http://schemas.microsoft.com/office/drawing/2014/main" id="{9D6984C2-9675-4A10-B6BD-E9BA676F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討論重點：校準層級、比較方法與可接受的訓練預算</a:t>
            </a:r>
          </a:p>
        </p:txBody>
      </p:sp>
    </p:spTree>
    <p:extLst>
      <p:ext uri="{BB962C8B-B14F-4D97-AF65-F5344CB8AC3E}">
        <p14:creationId xmlns:p14="http://schemas.microsoft.com/office/powerpoint/2010/main" val="1250053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附錄 A　評分與 REINFORCE 公式">
            <a:extLst xmlns:a="http://schemas.openxmlformats.org/drawingml/2006/main">
              <a:ext uri="{FF2B5EF4-FFF2-40B4-BE49-F238E27FC236}">
                <a16:creationId xmlns:a16="http://schemas.microsoft.com/office/drawing/2014/main" id="{4F41CBC9-FB69-4597-BF4A-7BA0EAFB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附錄</a:t>
            </a:r>
            <a:r>
              <a:rPr>
                <a:latin typeface="Times New Roman"/>
                <a:ea typeface="Times New Roman"/>
                <a:cs typeface="Times New Roman"/>
              </a:rPr>
              <a:t> A</a:t>
            </a:r>
            <a:r>
              <a:rPr>
                <a:latin typeface="DFKai-SB"/>
                <a:ea typeface="DFKai-SB"/>
                <a:cs typeface="DFKai-SB"/>
              </a:rPr>
              <a:t>　評分與</a:t>
            </a:r>
            <a:r>
              <a:rPr>
                <a:latin typeface="Times New Roman"/>
                <a:ea typeface="Times New Roman"/>
                <a:cs typeface="Times New Roman"/>
              </a:rPr>
              <a:t> REINFORCE </a:t>
            </a:r>
            <a:r>
              <a:rPr>
                <a:latin typeface="DFKai-SB"/>
                <a:ea typeface="DFKai-SB"/>
                <a:cs typeface="DFKai-SB"/>
              </a:rPr>
              <a:t>公式</a:t>
            </a:r>
          </a:p>
        </p:txBody>
      </p:sp>
      <p:sp>
        <p:nvSpPr>
          <p:cNvPr id="2" name="text-RACE-RL　附錄">
            <a:extLst xmlns:a="http://schemas.openxmlformats.org/drawingml/2006/main">
              <a:ext uri="{FF2B5EF4-FFF2-40B4-BE49-F238E27FC236}">
                <a16:creationId xmlns:a16="http://schemas.microsoft.com/office/drawing/2014/main" id="{B3F51B28-2EE2-43EB-B0D2-EA031D5A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附錄</a:t>
            </a:r>
          </a:p>
        </p:txBody>
      </p:sp>
      <p:sp>
        <p:nvSpPr>
          <p:cNvPr id="3" name="text-16">
            <a:extLst xmlns:a="http://schemas.openxmlformats.org/drawingml/2006/main">
              <a:ext uri="{FF2B5EF4-FFF2-40B4-BE49-F238E27FC236}">
                <a16:creationId xmlns:a16="http://schemas.microsoft.com/office/drawing/2014/main" id="{B2597D75-1BA8-4324-8470-A2E0AF9A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4" name="text-C = Σᵢ wᵢ (xᵢ / limitᵢ)&#10;v = ">
            <a:extLst xmlns:a="http://schemas.openxmlformats.org/drawingml/2006/main">
              <a:ext uri="{FF2B5EF4-FFF2-40B4-BE49-F238E27FC236}">
                <a16:creationId xmlns:a16="http://schemas.microsoft.com/office/drawing/2014/main" id="{524C9BC0-8B02-4EC9-95FB-B7AB4135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 = Σᵢ wᵢ (xᵢ / limitᵢ)</a:t>
            </a:r>
          </a:p>
          <a:p xmlns:a="http://schemas.openxmlformats.org/drawingml/2006/main">
            <a:pPr algn="l">
              <a:defRPr sz="2400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 = Σᵢ max(0, xᵢ / limitᵢ − 1)</a:t>
            </a:r>
          </a:p>
        </p:txBody>
      </p:sp>
      <p:sp>
        <p:nvSpPr>
          <p:cNvPr id="5" name="text-M = C/(1+C)                 ">
            <a:extLst xmlns:a="http://schemas.openxmlformats.org/drawingml/2006/main">
              <a:ext uri="{FF2B5EF4-FFF2-40B4-BE49-F238E27FC236}">
                <a16:creationId xmlns:a16="http://schemas.microsoft.com/office/drawing/2014/main" id="{F74C84E0-5596-4273-AD6A-4958D340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 = C/(1+C)                 </a:t>
            </a:r>
            <a:r>
              <a:rPr>
                <a:latin typeface="DFKai-SB"/>
                <a:ea typeface="DFKai-SB"/>
                <a:cs typeface="DFKai-SB"/>
              </a:rPr>
              <a:t>全部達標</a:t>
            </a:r>
          </a:p>
          <a:p xmlns:a="http://schemas.openxmlformats.org/drawingml/2006/main">
            <a:pPr algn="l">
              <a:defRPr sz="23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 = 2 + v + C/(1+C)     </a:t>
            </a:r>
            <a:r>
              <a:rPr>
                <a:latin typeface="DFKai-SB"/>
                <a:ea typeface="DFKai-SB"/>
                <a:cs typeface="DFKai-SB"/>
              </a:rPr>
              <a:t>存在超標</a:t>
            </a:r>
          </a:p>
        </p:txBody>
      </p:sp>
      <p:sp>
        <p:nvSpPr>
          <p:cNvPr id="6" name="text-J = M/(1+M)，Bₜ = min(Bₜ₋₁, J">
            <a:extLst xmlns:a="http://schemas.openxmlformats.org/drawingml/2006/main">
              <a:ext uri="{FF2B5EF4-FFF2-40B4-BE49-F238E27FC236}">
                <a16:creationId xmlns:a16="http://schemas.microsoft.com/office/drawing/2014/main" id="{04FBA5B9-A830-4DC8-8698-60C12209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J = M/(1+M)</a:t>
            </a:r>
            <a:r>
              <a:rPr>
                <a:latin typeface="DFKai-SB"/>
                <a:ea typeface="DFKai-SB"/>
                <a:cs typeface="DFKai-SB"/>
              </a:rPr>
              <a:t>，</a:t>
            </a:r>
            <a:r>
              <a:rPr>
                <a:latin typeface="Times New Roman"/>
                <a:ea typeface="Times New Roman"/>
                <a:cs typeface="Times New Roman"/>
              </a:rPr>
              <a:t>Bₜ = min(Bₜ₋₁, Jₜ)</a:t>
            </a:r>
          </a:p>
          <a:p xmlns:a="http://schemas.openxmlformats.org/drawingml/2006/main">
            <a:pPr algn="l">
              <a:defRPr sz="23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rₜ = ln(Bₜ₋₁ / Bₜ)</a:t>
            </a:r>
          </a:p>
        </p:txBody>
      </p:sp>
      <p:sp>
        <p:nvSpPr>
          <p:cNvPr id="7" name="text-Gₜ = Σₖ₌ₜᵀ rₖ，Lpolicy = −Σₜ ">
            <a:extLst xmlns:a="http://schemas.openxmlformats.org/drawingml/2006/main">
              <a:ext uri="{FF2B5EF4-FFF2-40B4-BE49-F238E27FC236}">
                <a16:creationId xmlns:a16="http://schemas.microsoft.com/office/drawing/2014/main" id="{DD3FC1ED-54C3-419D-A637-01720E4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Gₜ = Σₖ₌ₜᵀ rₖ</a:t>
            </a:r>
            <a:r>
              <a:rPr>
                <a:latin typeface="DFKai-SB"/>
                <a:ea typeface="DFKai-SB"/>
                <a:cs typeface="DFKai-SB"/>
              </a:rPr>
              <a:t>，</a:t>
            </a:r>
            <a:r>
              <a:rPr>
                <a:latin typeface="Times New Roman"/>
                <a:ea typeface="Times New Roman"/>
                <a:cs typeface="Times New Roman"/>
              </a:rPr>
              <a:t>Lpolicy = −Σₜ Gₜ ln πθ(aₜ ∣ Oₜ)</a:t>
            </a:r>
          </a:p>
        </p:txBody>
      </p:sp>
      <p:sp>
        <p:nvSpPr>
          <p:cNvPr id="8" name="text-回報由環境結果取得，沒有 PPA 預測器">
            <a:extLst xmlns:a="http://schemas.openxmlformats.org/drawingml/2006/main">
              <a:ext uri="{FF2B5EF4-FFF2-40B4-BE49-F238E27FC236}">
                <a16:creationId xmlns:a16="http://schemas.microsoft.com/office/drawing/2014/main" id="{9271B715-926F-479E-9AFB-D0FA12DD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0E7774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回報由環境結果取得，沒有</a:t>
            </a:r>
            <a:r>
              <a:rPr>
                <a:latin typeface="Times New Roman"/>
                <a:ea typeface="Times New Roman"/>
                <a:cs typeface="Times New Roman"/>
              </a:rPr>
              <a:t> PPA </a:t>
            </a:r>
            <a:r>
              <a:rPr>
                <a:latin typeface="DFKai-SB"/>
                <a:ea typeface="DFKai-SB"/>
                <a:cs typeface="DFKai-SB"/>
              </a:rPr>
              <a:t>預測器</a:t>
            </a:r>
          </a:p>
        </p:txBody>
      </p:sp>
    </p:spTree>
    <p:extLst>
      <p:ext uri="{BB962C8B-B14F-4D97-AF65-F5344CB8AC3E}">
        <p14:creationId xmlns:p14="http://schemas.microsoft.com/office/powerpoint/2010/main" val="5824781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附錄 B　硬體與成本來源">
            <a:extLst xmlns:a="http://schemas.openxmlformats.org/drawingml/2006/main">
              <a:ext uri="{FF2B5EF4-FFF2-40B4-BE49-F238E27FC236}">
                <a16:creationId xmlns:a16="http://schemas.microsoft.com/office/drawing/2014/main" id="{F4C678C2-B85C-48FD-8B10-93464CE3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84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附錄</a:t>
            </a:r>
            <a:r>
              <a:rPr>
                <a:latin typeface="Times New Roman"/>
                <a:ea typeface="Times New Roman"/>
                <a:cs typeface="Times New Roman"/>
              </a:rPr>
              <a:t> B</a:t>
            </a:r>
            <a:r>
              <a:rPr>
                <a:latin typeface="DFKai-SB"/>
                <a:ea typeface="DFKai-SB"/>
                <a:cs typeface="DFKai-SB"/>
              </a:rPr>
              <a:t>　硬體與成本來源</a:t>
            </a:r>
          </a:p>
        </p:txBody>
      </p:sp>
      <p:sp>
        <p:nvSpPr>
          <p:cNvPr id="2" name="text-RACE-RL　附錄">
            <a:extLst xmlns:a="http://schemas.openxmlformats.org/drawingml/2006/main">
              <a:ext uri="{FF2B5EF4-FFF2-40B4-BE49-F238E27FC236}">
                <a16:creationId xmlns:a16="http://schemas.microsoft.com/office/drawing/2014/main" id="{C97543B9-6903-4C03-933F-9937573A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  <a:r>
              <a:rPr>
                <a:latin typeface="DFKai-SB"/>
                <a:ea typeface="DFKai-SB"/>
                <a:cs typeface="DFKai-SB"/>
              </a:rPr>
              <a:t>　附錄</a:t>
            </a:r>
          </a:p>
        </p:txBody>
      </p:sp>
      <p:sp>
        <p:nvSpPr>
          <p:cNvPr id="3" name="text-17">
            <a:extLst xmlns:a="http://schemas.openxmlformats.org/drawingml/2006/main">
              <a:ext uri="{FF2B5EF4-FFF2-40B4-BE49-F238E27FC236}">
                <a16:creationId xmlns:a16="http://schemas.microsoft.com/office/drawing/2014/main" id="{DDD05A19-81F9-4C42-BCA9-77B51A96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68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0F93A-5666-4AA4-B432-5C6730894D5C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333875"/>
                <a:gridCol w="3590925"/>
              </a:tblGrid>
              <a:tr h="630238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來源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本專案使用範圍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0E7774"/>
                          </a:solidFill>
                          <a:latin typeface="DFKai-SB"/>
                          <a:ea typeface="DFKai-SB"/>
                          <a:cs typeface="DFKai-SB"/>
                        </a:rPr>
                        <a:t>可信度界線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T w="6668">
                      <a:solidFill>
                        <a:srgbClr val="C6D2D6"/>
                      </a:solidFill>
                      <a:prstDash val="solid"/>
                    </a:lnT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30238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Gemmini 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官方配置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× 16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GB / ACC 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容量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固定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commit 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可查核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Gemmini DAC 2021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面積分解的參考錨點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22nm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，需跨製程假設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Horowitz ISSCC 2014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運算與記憶體參考能耗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粗略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45nm 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參考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UCIe EDPS 2023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跨晶粒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PHY 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能耗目標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目標值，未實作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PHY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本研究明列假設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6D2D6"/>
                      </a:solidFill>
                      <a:prstDash val="solid"/>
                    </a:lnL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LB / RF / vector / DMA 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尚待匹配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RTL </a:t>
                      </a:r>
                      <a:r>
                        <a:rPr sz="1875" b="0">
                          <a:solidFill>
                            <a:srgbClr val="153847"/>
                          </a:solidFill>
                          <a:latin typeface="DFKai-SB"/>
                          <a:ea typeface="DFKai-SB"/>
                          <a:cs typeface="DFKai-SB"/>
                        </a:rPr>
                        <a:t>校準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6D2D6"/>
                      </a:solidFill>
                      <a:prstDash val="solid"/>
                    </a:lnR>
                    <a:lnB w="6668">
                      <a:solidFill>
                        <a:srgbClr val="C6D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成本檔均為 DECLARED_ESTIMATE，完整推導">
            <a:extLst xmlns:a="http://schemas.openxmlformats.org/drawingml/2006/main">
              <a:ext uri="{FF2B5EF4-FFF2-40B4-BE49-F238E27FC236}">
                <a16:creationId xmlns:a16="http://schemas.microsoft.com/office/drawing/2014/main" id="{08EC7B66-1F54-4DEA-97FC-5F78721C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A87821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A87821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DFKai-SB"/>
                <a:ea typeface="DFKai-SB"/>
                <a:cs typeface="DFKai-SB"/>
              </a:rPr>
              <a:t>成本檔均為</a:t>
            </a:r>
            <a:r>
              <a:rPr>
                <a:latin typeface="Times New Roman"/>
                <a:ea typeface="Times New Roman"/>
                <a:cs typeface="Times New Roman"/>
              </a:rPr>
              <a:t> DECLARED_ESTIMATE</a:t>
            </a:r>
            <a:r>
              <a:rPr>
                <a:latin typeface="DFKai-SB"/>
                <a:ea typeface="DFKai-SB"/>
                <a:cs typeface="DFKai-SB"/>
              </a:rPr>
              <a:t>，完整推導保存在</a:t>
            </a:r>
            <a:r>
              <a:rPr>
                <a:latin typeface="Times New Roman"/>
                <a:ea typeface="Times New Roman"/>
                <a:cs typeface="Times New Roman"/>
              </a:rPr>
              <a:t> provenance.json</a:t>
            </a:r>
          </a:p>
        </p:txBody>
      </p:sp>
    </p:spTree>
    <p:extLst>
      <p:ext uri="{BB962C8B-B14F-4D97-AF65-F5344CB8AC3E}">
        <p14:creationId xmlns:p14="http://schemas.microsoft.com/office/powerpoint/2010/main" val="1596162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2026-10-16T12:27:53.8610000Z</dcterms:created>
  <dcterms:modified xsi:type="dcterms:W3CDTF">2026-10-16T12:27:53.8610000Z</dcterms:modified>
</coreProperties>
</file>